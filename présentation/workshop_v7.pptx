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8" r:id="rId3"/>
    <p:sldId id="258" r:id="rId4"/>
    <p:sldId id="257" r:id="rId5"/>
    <p:sldId id="259" r:id="rId6"/>
    <p:sldId id="260" r:id="rId7"/>
    <p:sldId id="261" r:id="rId8"/>
    <p:sldId id="269" r:id="rId17"/>
    <p:sldId id="270" r:id="rId18"/>
    <p:sldId id="263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910E74-2AA1-C099-D531-B2F3A10BD70E}" v="31" dt="2026-07-06T13:52:37.3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5/10/relationships/revisionInfo" Target="revisionInfo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3DDD63-427A-4635-A057-1F846572A260}" type="datetimeFigureOut">
              <a:t>9/18/2026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9B2608-C01A-4A01-85FB-1C5AACB2BCFA}" type="slidenum"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1422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ea typeface="Calibri"/>
                <a:cs typeface="Calibri"/>
              </a:rPr>
              <a:t>Ajouter</a:t>
            </a:r>
            <a:r>
              <a:rPr lang="en-US" dirty="0">
                <a:ea typeface="Calibri"/>
                <a:cs typeface="Calibri"/>
              </a:rPr>
              <a:t> les prompts des taches </a:t>
            </a:r>
          </a:p>
          <a:p>
            <a:r>
              <a:rPr lang="en-US" dirty="0" err="1">
                <a:ea typeface="Calibri"/>
                <a:cs typeface="Calibri"/>
              </a:rPr>
              <a:t>Introdut</a:t>
            </a:r>
            <a:r>
              <a:rPr lang="en-US" dirty="0">
                <a:ea typeface="Calibri" panose="020F0502020204030204"/>
                <a:cs typeface="Calibri" panose="020F0502020204030204"/>
              </a:rPr>
              <a:t> le TR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ea typeface="Calibri"/>
                <a:cs typeface="Calibri"/>
              </a:rPr>
              <a:t>Ajouter</a:t>
            </a:r>
            <a:r>
              <a:rPr lang="en-US" dirty="0">
                <a:ea typeface="Calibri"/>
                <a:cs typeface="Calibri"/>
              </a:rPr>
              <a:t> les </a:t>
            </a:r>
            <a:r>
              <a:rPr lang="en-US" dirty="0" err="1">
                <a:ea typeface="Calibri"/>
                <a:cs typeface="Calibri"/>
              </a:rPr>
              <a:t>exemples</a:t>
            </a:r>
            <a:r>
              <a:rPr lang="en-US" dirty="0">
                <a:ea typeface="Calibri"/>
                <a:cs typeface="Calibri"/>
              </a:rPr>
              <a:t> revoir les </a:t>
            </a:r>
            <a:r>
              <a:rPr lang="en-US" dirty="0" err="1">
                <a:ea typeface="Calibri"/>
                <a:cs typeface="Calibri"/>
              </a:rPr>
              <a:t>exemples</a:t>
            </a:r>
            <a:r>
              <a:rPr lang="en-US" dirty="0">
                <a:ea typeface="Calibri"/>
                <a:cs typeface="Calibri"/>
              </a:rPr>
              <a:t> avec des </a:t>
            </a:r>
            <a:r>
              <a:rPr lang="en-US" dirty="0" err="1">
                <a:ea typeface="Calibri"/>
                <a:cs typeface="Calibri"/>
              </a:rPr>
              <a:t>exemples</a:t>
            </a:r>
            <a:r>
              <a:rPr lang="en-US" dirty="0">
                <a:ea typeface="Calibri"/>
                <a:cs typeface="Calibri"/>
              </a:rPr>
              <a:t> de donnée reel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75650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786759"/>
            <a:ext cx="12018159" cy="507124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2281007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2221887"/>
            <a:ext cx="1218895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02920" y="164592"/>
            <a:ext cx="11155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Is Relative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BAD0F8"/>
                </a:solidFill>
                <a:latin typeface="Calibri"/>
                <a:ea typeface="Calibri"/>
                <a:cs typeface="Calibri"/>
              </a:rPr>
              <a:t>Evaluating LLM Divergence under Truth Contracts</a:t>
            </a:r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32127" y="4209919"/>
            <a:ext cx="111556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32127" y="4347079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32127" y="4621399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Carlesso Mathis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32127" y="5215759"/>
            <a:ext cx="111556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32127" y="5352919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32127" y="5645527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Elöd Egyed-Zsigmond  |  Stefan Duffner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32127" y="6011287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Martino Lovisetto  (Alteca)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20040" y="6537960"/>
            <a:ext cx="1154887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320040" y="6565392"/>
            <a:ext cx="11548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Carlesso Mathis  |  CIFRE PhD  </a:t>
            </a:r>
            <a:r>
              <a:rPr lang="en-US" sz="850" dirty="0" err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Alteca</a:t>
            </a:r>
            <a:r>
              <a:rPr lang="en-US" sz="85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  |  LLM Hallucination Evaluation</a:t>
            </a:r>
            <a:endParaRPr lang="en-US" sz="850" dirty="0">
              <a:latin typeface="Calibri"/>
              <a:ea typeface="Calibri"/>
              <a:cs typeface="Calibri"/>
            </a:endParaRPr>
          </a:p>
        </p:txBody>
      </p:sp>
      <p:sp>
        <p:nvSpPr>
          <p:cNvPr id="9999" name="Text Pagination"/>
          <p:cNvSpPr/>
          <p:nvPr/>
        </p:nvSpPr>
        <p:spPr>
          <a:xfrm>
            <a:off x="10800000" y="6565392"/>
            <a:ext cx="106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</a:rPr>
              <a:t>1 / 10</a:t>
            </a:r>
            <a:endParaRPr lang="en-US" sz="1000" dirty="0">
              <a:solidFill>
                <a:srgbClr val="94A3B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itle"/>
          <p:cNvSpPr txBox="1"/>
          <p:nvPr/>
        </p:nvSpPr>
        <p:spPr>
          <a:xfrm>
            <a:off x="320040" y="164592"/>
            <a:ext cx="11548872" cy="53035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CV scientifique — Mathis Carlesso</a:t>
            </a:r>
          </a:p>
        </p:txBody>
      </p:sp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0040" y="768096"/>
            <a:ext cx="11548872" cy="0"/>
          </a:xfrm>
          <a:prstGeom prst="rect">
            <a:avLst/>
          </a:prstGeom>
          <a:noFill/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0040" y="914400"/>
            <a:ext cx="11548872" cy="7863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0040" y="914400"/>
            <a:ext cx="164592" cy="7863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Name"/>
          <p:cNvSpPr txBox="1"/>
          <p:nvPr/>
        </p:nvSpPr>
        <p:spPr>
          <a:xfrm>
            <a:off x="548640" y="987552"/>
            <a:ext cx="420624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MATHIS CARLESSO</a:t>
            </a:r>
          </a:p>
        </p:txBody>
      </p:sp>
      <p:sp>
        <p:nvSpPr>
          <p:cNvPr id="9" name="Role"/>
          <p:cNvSpPr txBox="1"/>
          <p:nvPr/>
        </p:nvSpPr>
        <p:spPr>
          <a:xfrm>
            <a:off x="548640" y="1289304"/>
            <a:ext cx="7498079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0">
                <a:solidFill>
                  <a:srgbClr val="BAD0F8"/>
                </a:solidFill>
                <a:latin typeface="Calibri"/>
              </a:rPr>
              <a:t>Doctorant CIFRE en IA — évaluation des LLM, hallucination &amp; créativité computationnelle</a:t>
            </a:r>
          </a:p>
        </p:txBody>
      </p:sp>
      <p:sp>
        <p:nvSpPr>
          <p:cNvPr id="10" name="Affiliations"/>
          <p:cNvSpPr txBox="1"/>
          <p:nvPr/>
        </p:nvSpPr>
        <p:spPr>
          <a:xfrm>
            <a:off x="8458200" y="1042415"/>
            <a:ext cx="315468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INSA Lyon · CNRS LIRIS UMR5205</a:t>
            </a:r>
          </a:p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Alteca — R&amp;D &amp; Innovation</a:t>
            </a:r>
          </a:p>
        </p:txBody>
      </p:sp>
      <p:sp>
        <p:nvSpPr>
          <p:cNvPr id="11" name="Rectangl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0040" y="1901952"/>
            <a:ext cx="544068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AcademicHeader"/>
          <p:cNvSpPr txBox="1"/>
          <p:nvPr/>
        </p:nvSpPr>
        <p:spPr>
          <a:xfrm>
            <a:off x="475488" y="1975104"/>
            <a:ext cx="51663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Parcours académique</a:t>
            </a:r>
          </a:p>
        </p:txBody>
      </p:sp>
      <p:sp>
        <p:nvSpPr>
          <p:cNvPr id="13" name="Rectangl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1901952"/>
            <a:ext cx="5788152" cy="384048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hesisHeader"/>
          <p:cNvSpPr txBox="1"/>
          <p:nvPr/>
        </p:nvSpPr>
        <p:spPr>
          <a:xfrm>
            <a:off x="6236208" y="1975104"/>
            <a:ext cx="55321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Contributions de thèse</a:t>
            </a:r>
          </a:p>
        </p:txBody>
      </p:sp>
      <p:sp>
        <p:nvSpPr>
          <p:cNvPr id="15" name="Rectangl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0040" y="2359152"/>
            <a:ext cx="5440680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0040" y="2359152"/>
            <a:ext cx="109728" cy="24871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cademicBody"/>
          <p:cNvSpPr txBox="1"/>
          <p:nvPr/>
        </p:nvSpPr>
        <p:spPr>
          <a:xfrm>
            <a:off x="566928" y="2487168"/>
            <a:ext cx="4983480" cy="21579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500" b="1" dirty="0">
                <a:solidFill>
                  <a:srgbClr val="1E293B"/>
                </a:solidFill>
                <a:latin typeface="Calibri"/>
              </a:rPr>
              <a:t>2024–</a:t>
            </a:r>
            <a:r>
              <a:rPr sz="1500" b="1" dirty="0" err="1">
                <a:solidFill>
                  <a:srgbClr val="1E293B"/>
                </a:solidFill>
                <a:latin typeface="Calibri"/>
              </a:rPr>
              <a:t>en</a:t>
            </a:r>
            <a:r>
              <a:rPr sz="1500" b="1" dirty="0">
                <a:solidFill>
                  <a:srgbClr val="1E293B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1E293B"/>
                </a:solidFill>
                <a:latin typeface="Calibri"/>
              </a:rPr>
              <a:t>cours</a:t>
            </a:r>
            <a:r>
              <a:rPr sz="1500" b="1" dirty="0">
                <a:solidFill>
                  <a:srgbClr val="1E293B"/>
                </a:solidFill>
                <a:latin typeface="Calibri"/>
              </a:rPr>
              <a:t> — </a:t>
            </a:r>
            <a:r>
              <a:rPr sz="1500" b="1" dirty="0" err="1">
                <a:solidFill>
                  <a:srgbClr val="1E293B"/>
                </a:solidFill>
                <a:latin typeface="Calibri"/>
              </a:rPr>
              <a:t>Doctorat</a:t>
            </a:r>
            <a:r>
              <a:rPr sz="1500" b="1" dirty="0">
                <a:solidFill>
                  <a:srgbClr val="1E293B"/>
                </a:solidFill>
                <a:latin typeface="Calibri"/>
              </a:rPr>
              <a:t> CIFRE </a:t>
            </a:r>
            <a:r>
              <a:rPr sz="1500" b="1" dirty="0" err="1">
                <a:solidFill>
                  <a:srgbClr val="1E293B"/>
                </a:solidFill>
                <a:latin typeface="Calibri"/>
              </a:rPr>
              <a:t>en</a:t>
            </a:r>
            <a:r>
              <a:rPr sz="1500" b="1" dirty="0">
                <a:solidFill>
                  <a:srgbClr val="1E293B"/>
                </a:solidFill>
                <a:latin typeface="Calibri"/>
              </a:rPr>
              <a:t> IA</a:t>
            </a:r>
            <a:r>
              <a:rPr lang="fr-FR" sz="1500" b="1" dirty="0">
                <a:solidFill>
                  <a:srgbClr val="1E293B"/>
                </a:solidFill>
                <a:latin typeface="Calibri"/>
              </a:rPr>
              <a:t> </a:t>
            </a:r>
            <a:endParaRPr lang="fr-FR" sz="1500" b="1" dirty="0">
              <a:solidFill>
                <a:srgbClr val="1E293B"/>
              </a:solidFill>
              <a:latin typeface="Calibri"/>
              <a:ea typeface="Calibri"/>
              <a:cs typeface="Calibri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0" dirty="0">
                <a:solidFill>
                  <a:srgbClr val="475569"/>
                </a:solidFill>
                <a:latin typeface="Calibri"/>
              </a:rPr>
              <a:t>INSA Lyon · CNRS, LIRIS UMR5205 / </a:t>
            </a:r>
            <a:r>
              <a:rPr sz="1400" b="0" dirty="0" err="1">
                <a:solidFill>
                  <a:srgbClr val="475569"/>
                </a:solidFill>
                <a:latin typeface="Calibri"/>
              </a:rPr>
              <a:t>Alteca</a:t>
            </a:r>
            <a:r>
              <a:rPr sz="1400" b="0" dirty="0">
                <a:solidFill>
                  <a:srgbClr val="475569"/>
                </a:solidFill>
                <a:latin typeface="Calibri"/>
              </a:rPr>
              <a:t> — Villeurbanne</a:t>
            </a:r>
            <a:endParaRPr sz="1400" b="0" dirty="0">
              <a:solidFill>
                <a:srgbClr val="475569"/>
              </a:solidFill>
              <a:latin typeface="Calibri"/>
              <a:ea typeface="Calibri"/>
              <a:cs typeface="Calibri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0" dirty="0" err="1">
                <a:solidFill>
                  <a:srgbClr val="475569"/>
                </a:solidFill>
                <a:latin typeface="Calibri"/>
              </a:rPr>
              <a:t>Sujet</a:t>
            </a:r>
            <a:r>
              <a:rPr sz="1400" b="0" dirty="0">
                <a:solidFill>
                  <a:srgbClr val="475569"/>
                </a:solidFill>
                <a:latin typeface="Calibri"/>
              </a:rPr>
              <a:t> : </a:t>
            </a:r>
            <a:r>
              <a:rPr sz="1400" b="0" dirty="0" err="1">
                <a:solidFill>
                  <a:srgbClr val="475569"/>
                </a:solidFill>
                <a:latin typeface="Calibri"/>
              </a:rPr>
              <a:t>évaluation</a:t>
            </a:r>
            <a:r>
              <a:rPr sz="1400" b="0" dirty="0">
                <a:solidFill>
                  <a:srgbClr val="475569"/>
                </a:solidFill>
                <a:latin typeface="Calibri"/>
              </a:rPr>
              <a:t> des LLM sous </a:t>
            </a:r>
            <a:r>
              <a:rPr sz="1400" b="0" dirty="0" err="1">
                <a:solidFill>
                  <a:srgbClr val="475569"/>
                </a:solidFill>
                <a:latin typeface="Calibri"/>
              </a:rPr>
              <a:t>contraintes</a:t>
            </a:r>
            <a:r>
              <a:rPr sz="14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475569"/>
                </a:solidFill>
                <a:latin typeface="Calibri"/>
              </a:rPr>
              <a:t>d’intention</a:t>
            </a:r>
            <a:r>
              <a:rPr sz="14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475569"/>
                </a:solidFill>
                <a:latin typeface="Calibri"/>
              </a:rPr>
              <a:t>utilisateur</a:t>
            </a:r>
            <a:r>
              <a:rPr sz="1400" b="0" dirty="0">
                <a:solidFill>
                  <a:srgbClr val="475569"/>
                </a:solidFill>
                <a:latin typeface="Calibri"/>
              </a:rPr>
              <a:t>, régime de vérité, </a:t>
            </a:r>
            <a:r>
              <a:rPr sz="1400" b="0" dirty="0" err="1">
                <a:solidFill>
                  <a:srgbClr val="475569"/>
                </a:solidFill>
                <a:latin typeface="Calibri"/>
              </a:rPr>
              <a:t>factualité</a:t>
            </a:r>
            <a:r>
              <a:rPr sz="1400" b="0" dirty="0">
                <a:solidFill>
                  <a:srgbClr val="475569"/>
                </a:solidFill>
                <a:latin typeface="Calibri"/>
              </a:rPr>
              <a:t>, </a:t>
            </a:r>
            <a:r>
              <a:rPr sz="1400" b="0" dirty="0" err="1">
                <a:solidFill>
                  <a:srgbClr val="475569"/>
                </a:solidFill>
                <a:latin typeface="Calibri"/>
              </a:rPr>
              <a:t>fidélité</a:t>
            </a:r>
            <a:r>
              <a:rPr sz="1400" b="0" dirty="0">
                <a:solidFill>
                  <a:srgbClr val="475569"/>
                </a:solidFill>
                <a:latin typeface="Calibri"/>
              </a:rPr>
              <a:t> et hallucination.</a:t>
            </a:r>
            <a:endParaRPr sz="1400" b="0" dirty="0">
              <a:solidFill>
                <a:srgbClr val="475569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500" b="1" dirty="0">
                <a:solidFill>
                  <a:srgbClr val="1E293B"/>
                </a:solidFill>
                <a:latin typeface="Calibri"/>
              </a:rPr>
              <a:t>2024 </a:t>
            </a:r>
            <a:r>
              <a:rPr lang="fr-FR" sz="1500" b="1" dirty="0">
                <a:solidFill>
                  <a:srgbClr val="1E293B"/>
                </a:solidFill>
                <a:latin typeface="Calibri"/>
              </a:rPr>
              <a:t>- 2019—</a:t>
            </a:r>
            <a:r>
              <a:rPr sz="1500" b="1" dirty="0">
                <a:solidFill>
                  <a:srgbClr val="1E293B"/>
                </a:solidFill>
                <a:latin typeface="Calibri"/>
              </a:rPr>
              <a:t> Diplôme </a:t>
            </a:r>
            <a:r>
              <a:rPr sz="1500" b="1" dirty="0" err="1">
                <a:solidFill>
                  <a:srgbClr val="1E293B"/>
                </a:solidFill>
                <a:latin typeface="Calibri"/>
              </a:rPr>
              <a:t>d’ingénieur</a:t>
            </a:r>
            <a:r>
              <a:rPr sz="1500" b="1" dirty="0">
                <a:solidFill>
                  <a:srgbClr val="1E293B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1E293B"/>
                </a:solidFill>
                <a:latin typeface="Calibri"/>
              </a:rPr>
              <a:t>en</a:t>
            </a:r>
            <a:r>
              <a:rPr sz="1500" b="1" dirty="0">
                <a:solidFill>
                  <a:srgbClr val="1E293B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1E293B"/>
                </a:solidFill>
                <a:latin typeface="Calibri"/>
              </a:rPr>
              <a:t>informatique</a:t>
            </a:r>
            <a:r>
              <a:rPr lang="fr-FR" sz="1500" b="1" dirty="0">
                <a:solidFill>
                  <a:srgbClr val="1E293B"/>
                </a:solidFill>
                <a:latin typeface="Calibri"/>
              </a:rPr>
              <a:t> </a:t>
            </a:r>
            <a:endParaRPr sz="1500" b="1" dirty="0" err="1">
              <a:solidFill>
                <a:srgbClr val="1E293B"/>
              </a:solidFill>
              <a:latin typeface="Calibri"/>
              <a:ea typeface="Calibri"/>
              <a:cs typeface="Calibri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0" dirty="0">
                <a:solidFill>
                  <a:srgbClr val="475569"/>
                </a:solidFill>
                <a:latin typeface="Calibri"/>
              </a:rPr>
              <a:t>CESI Bordeaux — </a:t>
            </a:r>
            <a:r>
              <a:rPr sz="1400" b="0" dirty="0" err="1">
                <a:solidFill>
                  <a:srgbClr val="475569"/>
                </a:solidFill>
                <a:latin typeface="Calibri"/>
              </a:rPr>
              <a:t>spécialisation</a:t>
            </a:r>
            <a:r>
              <a:rPr sz="1400" b="0" dirty="0">
                <a:solidFill>
                  <a:srgbClr val="475569"/>
                </a:solidFill>
                <a:latin typeface="Calibri"/>
              </a:rPr>
              <a:t> .NET/C#, </a:t>
            </a:r>
            <a:r>
              <a:rPr sz="1400" b="0" dirty="0" err="1">
                <a:solidFill>
                  <a:srgbClr val="475569"/>
                </a:solidFill>
                <a:latin typeface="Calibri"/>
              </a:rPr>
              <a:t>systèmes</a:t>
            </a:r>
            <a:r>
              <a:rPr sz="1400" b="0" dirty="0">
                <a:solidFill>
                  <a:srgbClr val="475569"/>
                </a:solidFill>
                <a:latin typeface="Calibri"/>
              </a:rPr>
              <a:t> &amp; réseaux, IA et </a:t>
            </a:r>
            <a:r>
              <a:rPr sz="1400" b="0" dirty="0" err="1">
                <a:solidFill>
                  <a:srgbClr val="475569"/>
                </a:solidFill>
                <a:latin typeface="Calibri"/>
              </a:rPr>
              <a:t>développement</a:t>
            </a:r>
            <a:r>
              <a:rPr sz="1400" b="0" dirty="0">
                <a:solidFill>
                  <a:srgbClr val="475569"/>
                </a:solidFill>
                <a:latin typeface="Calibri"/>
              </a:rPr>
              <a:t> web.</a:t>
            </a:r>
            <a:endParaRPr sz="1400" b="0" dirty="0">
              <a:solidFill>
                <a:srgbClr val="47556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Rectangl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2359152"/>
            <a:ext cx="5788152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2359152"/>
            <a:ext cx="109728" cy="2487168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hesisBody"/>
          <p:cNvSpPr txBox="1"/>
          <p:nvPr/>
        </p:nvSpPr>
        <p:spPr>
          <a:xfrm>
            <a:off x="6327648" y="2487168"/>
            <a:ext cx="5321808" cy="21579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500" b="1">
                <a:solidFill>
                  <a:srgbClr val="1E293B"/>
                </a:solidFill>
                <a:latin typeface="Calibri"/>
              </a:rPr>
              <a:t>Contrat de vérité</a:t>
            </a:r>
            <a:r>
              <a:rPr sz="1400" b="0">
                <a:solidFill>
                  <a:srgbClr val="475569"/>
                </a:solidFill>
                <a:latin typeface="Calibri"/>
              </a:rPr>
              <a:t> — formalisation de TC(p) = (O, Γ, μ) pour distinguer claims grounded (G), hallucination (H) et divergence licenciée (LD).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500" b="1">
                <a:solidFill>
                  <a:srgbClr val="1E293B"/>
                </a:solidFill>
                <a:latin typeface="Calibri"/>
              </a:rPr>
              <a:t>Corpus &amp; annotation</a:t>
            </a:r>
            <a:r>
              <a:rPr sz="1400" b="0">
                <a:solidFill>
                  <a:srgbClr val="475569"/>
                </a:solidFill>
                <a:latin typeface="Calibri"/>
              </a:rPr>
              <a:t> — protocoles humains, accord inter-annotateurs, intention du prompt et validité expérimentale.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500" b="1">
                <a:solidFill>
                  <a:srgbClr val="1E293B"/>
                </a:solidFill>
                <a:latin typeface="Calibri"/>
              </a:rPr>
              <a:t>Évaluation claim-level</a:t>
            </a:r>
            <a:r>
              <a:rPr sz="1400" b="0">
                <a:solidFill>
                  <a:srgbClr val="475569"/>
                </a:solidFill>
                <a:latin typeface="Calibri"/>
              </a:rPr>
              <a:t> — unités atomiques de claims, calibration de scores et premiers entraînements.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500" b="1">
                <a:solidFill>
                  <a:srgbClr val="1E293B"/>
                </a:solidFill>
                <a:latin typeface="Calibri"/>
              </a:rPr>
              <a:t>Étude expérimentale</a:t>
            </a:r>
            <a:r>
              <a:rPr sz="1400" b="0">
                <a:solidFill>
                  <a:srgbClr val="F59E0B"/>
                </a:solidFill>
                <a:latin typeface="Calibri"/>
              </a:rPr>
              <a:t> — 12 469 textes · 10 modèles · 310 357 claims.</a:t>
            </a:r>
          </a:p>
        </p:txBody>
      </p:sp>
      <p:sp>
        <p:nvSpPr>
          <p:cNvPr id="21" name="Rectangle 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0040" y="5093208"/>
            <a:ext cx="11548872" cy="1078992"/>
          </a:xfrm>
          <a:prstGeom prst="rect">
            <a:avLst/>
          </a:prstGeom>
          <a:solidFill>
            <a:srgbClr val="EFF6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0040" y="5093208"/>
            <a:ext cx="164592" cy="10789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PubsHeader"/>
          <p:cNvSpPr txBox="1"/>
          <p:nvPr/>
        </p:nvSpPr>
        <p:spPr>
          <a:xfrm>
            <a:off x="566928" y="5193792"/>
            <a:ext cx="278892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500" b="1">
                <a:solidFill>
                  <a:srgbClr val="1E293B"/>
                </a:solidFill>
                <a:latin typeface="Calibri"/>
              </a:rPr>
              <a:t>Publications &amp; manuscrits</a:t>
            </a:r>
          </a:p>
        </p:txBody>
      </p:sp>
      <p:sp>
        <p:nvSpPr>
          <p:cNvPr id="24" name="PubsBody"/>
          <p:cNvSpPr txBox="1"/>
          <p:nvPr/>
        </p:nvSpPr>
        <p:spPr>
          <a:xfrm>
            <a:off x="3352074" y="5193792"/>
            <a:ext cx="8260806" cy="894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1" dirty="0">
                <a:solidFill>
                  <a:srgbClr val="1E293B"/>
                </a:solidFill>
                <a:latin typeface="Calibri"/>
              </a:rPr>
              <a:t>Hallucination Is Relative</a:t>
            </a:r>
            <a:r>
              <a:rPr sz="1400" b="0" dirty="0">
                <a:solidFill>
                  <a:srgbClr val="475569"/>
                </a:solidFill>
                <a:latin typeface="Calibri"/>
              </a:rPr>
              <a:t> — position paper UAI 2026, version </a:t>
            </a:r>
            <a:r>
              <a:rPr sz="1400" b="0" dirty="0" err="1">
                <a:solidFill>
                  <a:srgbClr val="475569"/>
                </a:solidFill>
                <a:latin typeface="Calibri"/>
              </a:rPr>
              <a:t>révisée</a:t>
            </a:r>
            <a:r>
              <a:rPr sz="14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475569"/>
                </a:solidFill>
                <a:latin typeface="Calibri"/>
              </a:rPr>
              <a:t>en</a:t>
            </a:r>
            <a:r>
              <a:rPr sz="14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475569"/>
                </a:solidFill>
                <a:latin typeface="Calibri"/>
              </a:rPr>
              <a:t>préparation</a:t>
            </a:r>
            <a:r>
              <a:rPr sz="1400" b="0" dirty="0">
                <a:solidFill>
                  <a:srgbClr val="475569"/>
                </a:solidFill>
                <a:latin typeface="Calibri"/>
              </a:rPr>
              <a:t> pour Computational Linguistics.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400" b="0" dirty="0">
                <a:solidFill>
                  <a:srgbClr val="475569"/>
                </a:solidFill>
                <a:latin typeface="Calibri"/>
              </a:rPr>
              <a:t>Survey ECIR </a:t>
            </a:r>
            <a:r>
              <a:rPr sz="1400" b="0" dirty="0" err="1">
                <a:solidFill>
                  <a:srgbClr val="475569"/>
                </a:solidFill>
                <a:latin typeface="Calibri"/>
              </a:rPr>
              <a:t>soumis</a:t>
            </a:r>
            <a:r>
              <a:rPr sz="1400" b="0" dirty="0">
                <a:solidFill>
                  <a:srgbClr val="475569"/>
                </a:solidFill>
                <a:latin typeface="Calibri"/>
              </a:rPr>
              <a:t> · </a:t>
            </a:r>
            <a:r>
              <a:rPr lang="fr-FR" sz="1400" dirty="0">
                <a:solidFill>
                  <a:srgbClr val="475569"/>
                </a:solidFill>
                <a:latin typeface="Calibri"/>
              </a:rPr>
              <a:t>rejeté </a:t>
            </a:r>
            <a:endParaRPr sz="1400" b="0" dirty="0">
              <a:solidFill>
                <a:srgbClr val="47556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Rectangle 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0040" y="6537960"/>
            <a:ext cx="11548872" cy="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Footer"/>
          <p:cNvSpPr txBox="1"/>
          <p:nvPr/>
        </p:nvSpPr>
        <p:spPr>
          <a:xfrm>
            <a:off x="320040" y="6565392"/>
            <a:ext cx="1154887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Carlesso Mathis  |  CIFRE PhD  Alteca  |  LLM Hallucination Evaluation</a:t>
            </a:r>
          </a:p>
        </p:txBody>
      </p:sp>
      <p:sp>
        <p:nvSpPr>
          <p:cNvPr id="29" name="Text Pagination"/>
          <p:cNvSpPr txBox="1"/>
          <p:nvPr/>
        </p:nvSpPr>
        <p:spPr>
          <a:xfrm>
            <a:off x="10799064" y="6565392"/>
            <a:ext cx="106984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11548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Paradox: Not All Hallucinations Are Equal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768096"/>
            <a:ext cx="115488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20040" y="6537960"/>
            <a:ext cx="1154887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20040" y="6565392"/>
            <a:ext cx="11548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Carlesso Mathis  |  CIFRE PhD  </a:t>
            </a:r>
            <a:r>
              <a:rPr lang="en-US" sz="1000" dirty="0" err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Alteca</a:t>
            </a: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 |  LLM Hallucination Evaluation</a:t>
            </a:r>
            <a:endParaRPr lang="en-US" sz="10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0040" y="932688"/>
            <a:ext cx="5022402" cy="30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20040" y="932688"/>
            <a:ext cx="5033367" cy="5230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20040" y="932688"/>
            <a:ext cx="4797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AI assistant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02920" y="2280000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patient presents with severe arrhythmia"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" y="278000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Invented by the LLM — not in the source document.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3090000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DANGEROUS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309360" y="932688"/>
            <a:ext cx="5559640" cy="30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6309360" y="932688"/>
            <a:ext cx="5570604" cy="544956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309360" y="932688"/>
            <a:ext cx="5669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writing assistant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492240" y="2280000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"Her eyes gleamed like blades of winter steel"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63506" y="278000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Invented by the LLM — not factually grounded.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92240" y="3090000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WHAT WAS ASKED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391539" y="1640438"/>
            <a:ext cx="822960" cy="82296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391539" y="165140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320040" y="4020000"/>
            <a:ext cx="11548872" cy="14813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502920" y="4111584"/>
            <a:ext cx="111831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outputs were invented.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02920" y="4587072"/>
            <a:ext cx="11183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BAD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first is a problem.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02920" y="4925400"/>
            <a:ext cx="11183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AD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difference: what the prompt authorized.</a:t>
            </a:r>
            <a:endParaRPr lang="en-US" sz="2000" dirty="0"/>
          </a:p>
        </p:txBody>
      </p:sp>
      <p:sp>
        <p:nvSpPr>
          <p:cNvPr id="9999" name="Text Pagination"/>
          <p:cNvSpPr/>
          <p:nvPr/>
        </p:nvSpPr>
        <p:spPr>
          <a:xfrm>
            <a:off x="10800000" y="6565392"/>
            <a:ext cx="106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</a:rPr>
              <a:t>3 / 10</a:t>
            </a:r>
            <a:endParaRPr lang="en-US" sz="1000" dirty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30" name="Text Prompt Label L"/>
          <p:cNvSpPr/>
          <p:nvPr/>
        </p:nvSpPr>
        <p:spPr>
          <a:xfrm>
            <a:off x="502920" y="1468000"/>
            <a:ext cx="530352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</a:rPr>
              <a:t>PROMPT</a:t>
            </a:r>
          </a:p>
        </p:txBody>
      </p:sp>
      <p:sp>
        <p:nvSpPr>
          <p:cNvPr id="31" name="Text Prompt L"/>
          <p:cNvSpPr/>
          <p:nvPr/>
        </p:nvSpPr>
        <p:spPr>
          <a:xfrm>
            <a:off x="502920" y="1640000"/>
            <a:ext cx="530352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</a:rPr>
              <a:t>“Summarize this patient’s condition from the attached file.”</a:t>
            </a:r>
          </a:p>
        </p:txBody>
      </p:sp>
      <p:sp>
        <p:nvSpPr>
          <p:cNvPr id="32" name="Text Response Label L"/>
          <p:cNvSpPr/>
          <p:nvPr/>
        </p:nvSpPr>
        <p:spPr>
          <a:xfrm>
            <a:off x="502920" y="2100000"/>
            <a:ext cx="530352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</a:rPr>
              <a:t>RESPONSE</a:t>
            </a:r>
          </a:p>
        </p:txBody>
      </p:sp>
      <p:sp>
        <p:nvSpPr>
          <p:cNvPr id="33" name="Text Prompt Label R"/>
          <p:cNvSpPr/>
          <p:nvPr/>
        </p:nvSpPr>
        <p:spPr>
          <a:xfrm>
            <a:off x="6492240" y="1468000"/>
            <a:ext cx="530352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</a:rPr>
              <a:t>PROMPT</a:t>
            </a:r>
          </a:p>
        </p:txBody>
      </p:sp>
      <p:sp>
        <p:nvSpPr>
          <p:cNvPr id="34" name="Text Prompt R"/>
          <p:cNvSpPr/>
          <p:nvPr/>
        </p:nvSpPr>
        <p:spPr>
          <a:xfrm>
            <a:off x="6492240" y="1640000"/>
            <a:ext cx="530352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</a:rPr>
              <a:t>“Write a dramatic opening line for a fantasy scene.”</a:t>
            </a:r>
          </a:p>
        </p:txBody>
      </p:sp>
      <p:sp>
        <p:nvSpPr>
          <p:cNvPr id="35" name="Text Response Label R"/>
          <p:cNvSpPr/>
          <p:nvPr/>
        </p:nvSpPr>
        <p:spPr>
          <a:xfrm>
            <a:off x="6492240" y="2100000"/>
            <a:ext cx="530352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</a:rPr>
              <a:t>RESPONSE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11548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A Missing Distinction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768096"/>
            <a:ext cx="115488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20040" y="6537960"/>
            <a:ext cx="1154887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20040" y="6565392"/>
            <a:ext cx="11548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Carlesso Mathis  |  CIFRE PhD  Alteca  |  LLM Hallucination Evaluation</a:t>
            </a:r>
            <a:endParaRPr lang="en-US" sz="1050">
              <a:latin typeface="Calibri"/>
              <a:ea typeface="Calibri"/>
              <a:cs typeface="Calibri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0040" y="932688"/>
            <a:ext cx="11548872" cy="1042416"/>
          </a:xfrm>
          <a:prstGeom prst="rect">
            <a:avLst/>
          </a:prstGeom>
          <a:solidFill>
            <a:srgbClr val="F8FAFC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20040" y="932688"/>
            <a:ext cx="164592" cy="10424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40080" y="1069848"/>
            <a:ext cx="110916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inevitably produce unsupported claims — a structural, mathematical property.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20040" y="2176272"/>
            <a:ext cx="11548872" cy="1042416"/>
          </a:xfrm>
          <a:prstGeom prst="rect">
            <a:avLst/>
          </a:prstGeom>
          <a:solidFill>
            <a:srgbClr val="F8FAFC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20040" y="2176272"/>
            <a:ext cx="164592" cy="104241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40080" y="2313432"/>
            <a:ext cx="110916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benchmarks treat ALL deviations as defects, regardless of the task.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20040" y="3419856"/>
            <a:ext cx="11548872" cy="1042416"/>
          </a:xfrm>
          <a:prstGeom prst="rect">
            <a:avLst/>
          </a:prstGeom>
          <a:solidFill>
            <a:srgbClr val="F8FAFC"/>
          </a:solidFill>
          <a:ln w="190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20040" y="3419856"/>
            <a:ext cx="164592" cy="104241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40080" y="3557016"/>
            <a:ext cx="110916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output can be a failure in one benchmark and a success in another.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20040" y="4663440"/>
            <a:ext cx="11548872" cy="1042416"/>
          </a:xfrm>
          <a:prstGeom prst="rect">
            <a:avLst/>
          </a:prstGeom>
          <a:solidFill>
            <a:srgbClr val="F8FAFC"/>
          </a:solidFill>
          <a:ln w="1905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320040" y="4663440"/>
            <a:ext cx="164592" cy="1042416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640080" y="4800600"/>
            <a:ext cx="110916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is not in the text — it is in what the prompt authorized.</a:t>
            </a:r>
            <a:endParaRPr lang="en-US" sz="2000" dirty="0"/>
          </a:p>
        </p:txBody>
      </p:sp>
      <p:sp>
        <p:nvSpPr>
          <p:cNvPr id="9999" name="Text Pagination"/>
          <p:cNvSpPr/>
          <p:nvPr/>
        </p:nvSpPr>
        <p:spPr>
          <a:xfrm>
            <a:off x="10800000" y="6565392"/>
            <a:ext cx="106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94A3B8"/>
                </a:solidFill>
                <a:latin typeface="Calibri"/>
              </a:rPr>
              <a:t>4 / 10</a:t>
            </a:r>
            <a:endParaRPr lang="en-US" sz="1000" dirty="0">
              <a:solidFill>
                <a:srgbClr val="94A3B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11548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Evaluation: A Shared Blind Spot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768096"/>
            <a:ext cx="115488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20040" y="6537960"/>
            <a:ext cx="1154887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20040" y="6565392"/>
            <a:ext cx="11548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Carlesso Mathis  |  CIFRE PhD  </a:t>
            </a:r>
            <a:r>
              <a:rPr lang="en-US" sz="1000" dirty="0" err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Alteca</a:t>
            </a: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 |  LLM Hallucination Evaluation</a:t>
            </a:r>
            <a:endParaRPr lang="en-US" sz="10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0040" y="932688"/>
            <a:ext cx="56692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20040" y="932688"/>
            <a:ext cx="5669280" cy="5120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20040" y="932688"/>
            <a:ext cx="5669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benchmarks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02920" y="1536192"/>
            <a:ext cx="5303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unsupported content = defect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oracle (KB or source document)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Implicitly assume an empty permission scope (Γ = ∅)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what the prompt actually authorized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09360" y="932688"/>
            <a:ext cx="56692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6309360" y="932688"/>
            <a:ext cx="5669280" cy="5120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309360" y="932688"/>
            <a:ext cx="5669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Creativity benchmarks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492240" y="1536192"/>
            <a:ext cx="5303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= virtue, to be maximized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check factual grounding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Confuse licensed divergence (LD) with hallucination (H)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Evaluator-dependent, hard to reproduce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94476" y="1005840"/>
            <a:ext cx="0" cy="397764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320040" y="5212080"/>
            <a:ext cx="11548872" cy="658368"/>
          </a:xfrm>
          <a:prstGeom prst="rect">
            <a:avLst/>
          </a:prstGeom>
          <a:solidFill>
            <a:srgbClr val="F8FAFC"/>
          </a:solidFill>
          <a:ln w="190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320040" y="5212080"/>
            <a:ext cx="164592" cy="65836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640080" y="5248656"/>
            <a:ext cx="110916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blind spot: neither tradition conditions its score on what the prompt actually authorized.</a:t>
            </a:r>
            <a:endParaRPr lang="en-US" sz="1600" dirty="0"/>
          </a:p>
        </p:txBody>
      </p:sp>
      <p:sp>
        <p:nvSpPr>
          <p:cNvPr id="9999" name="Text Pagination"/>
          <p:cNvSpPr/>
          <p:nvPr/>
        </p:nvSpPr>
        <p:spPr>
          <a:xfrm>
            <a:off x="10800000" y="6565392"/>
            <a:ext cx="106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94A3B8"/>
                </a:solidFill>
                <a:latin typeface="Calibri"/>
              </a:rPr>
              <a:t>5 / 10</a:t>
            </a:r>
            <a:endParaRPr lang="en-US" sz="1000" dirty="0">
              <a:solidFill>
                <a:srgbClr val="94A3B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11548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 The Truth Contract  TC(p) = (O, Γ, μ)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768096"/>
            <a:ext cx="115488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20040" y="6537960"/>
            <a:ext cx="1154887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20040" y="6565392"/>
            <a:ext cx="11548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Carlesso Mathis  |  CIFRE PhD  </a:t>
            </a:r>
            <a:r>
              <a:rPr lang="en-US" sz="1000" dirty="0" err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Alteca</a:t>
            </a: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 |  LLM Hallucination Evaluation</a:t>
            </a:r>
            <a:endParaRPr lang="en-US" sz="1000" dirty="0">
              <a:latin typeface="Calibri"/>
              <a:ea typeface="Calibri"/>
              <a:cs typeface="Calibri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0040" y="914400"/>
            <a:ext cx="11548872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02920" y="914400"/>
            <a:ext cx="111831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TC( p )  =  ( O ,  Γ ,  μ )  — an explicit contract: which evidence a claim is checked against, what may be added, and how it must be presented.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20040" y="1828800"/>
            <a:ext cx="3788664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20040" y="1828800"/>
            <a:ext cx="3788664" cy="5303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20040" y="1828800"/>
            <a:ext cx="3788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 —  Task Oracle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" y="2450592"/>
            <a:ext cx="342290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evidence is a claim checked against?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document, retrieval set, database, unit tests...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00144" y="1828800"/>
            <a:ext cx="3788664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200144" y="1828800"/>
            <a:ext cx="3788664" cy="5303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200144" y="1828800"/>
            <a:ext cx="3788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 —  Permission Scope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383024" y="2450592"/>
            <a:ext cx="342290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may the response add or change beyond the evidence?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one plausible reconstruction, a fictional frame...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80248" y="1828800"/>
            <a:ext cx="3788664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8080248" y="1828800"/>
            <a:ext cx="3788664" cy="5303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8080248" y="1828800"/>
            <a:ext cx="3788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 —  Required Status Marking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63128" y="2450592"/>
            <a:ext cx="342290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must that added content be presented?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flagged as conjecture, hypothesis, or fiction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20040" y="5074920"/>
            <a:ext cx="11548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unsupported claim: Hallucination (H) when not permitted or not marked as required —  Licensed Divergence (LD) when the contract allows it and it is marked as required.</a:t>
            </a:r>
            <a:endParaRPr lang="en-US" sz="1400" dirty="0"/>
          </a:p>
        </p:txBody>
      </p:sp>
      <p:sp>
        <p:nvSpPr>
          <p:cNvPr id="9999" name="Text Pagination"/>
          <p:cNvSpPr/>
          <p:nvPr/>
        </p:nvSpPr>
        <p:spPr>
          <a:xfrm>
            <a:off x="10800000" y="6565392"/>
            <a:ext cx="106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</a:rPr>
              <a:t>6 / 10</a:t>
            </a:r>
            <a:endParaRPr lang="en-US" sz="1000" dirty="0">
              <a:solidFill>
                <a:srgbClr val="94A3B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11548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Labels: Grounded, Hallucination, Licensed Divergence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768096"/>
            <a:ext cx="115488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20040" y="6537960"/>
            <a:ext cx="1154887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20040" y="6565392"/>
            <a:ext cx="11548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Carlesso Mathis  |  CIFRE PhD  </a:t>
            </a:r>
            <a:r>
              <a:rPr lang="en-US" sz="1000" dirty="0" err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Alteca</a:t>
            </a: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  |  LLM Hallucination Evaluation</a:t>
            </a:r>
            <a:endParaRPr lang="en-US" sz="1000" dirty="0">
              <a:latin typeface="Calibri"/>
              <a:ea typeface="Calibri"/>
              <a:cs typeface="Calibri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0040" y="932688"/>
            <a:ext cx="11548872" cy="1042416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20040" y="932688"/>
            <a:ext cx="164592" cy="104241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40080" y="969264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 (H)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0080" y="12984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claim is unknown or contradicted by the oracle, and either the task does not permit it or the response does not mark it as required.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0040" y="2121408"/>
            <a:ext cx="11548872" cy="1042416"/>
          </a:xfrm>
          <a:prstGeom prst="rect">
            <a:avLst/>
          </a:prstGeom>
          <a:solidFill>
            <a:srgbClr val="DCFCE7"/>
          </a:solidFill>
          <a:ln w="1905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320040" y="2121408"/>
            <a:ext cx="164592" cy="1042416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40080" y="2157984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Divergence  (LD)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40080" y="24871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claim is unknown or contradicted by the oracle, but the task permits it and the response marks it exactly as required.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0040" y="3310128"/>
            <a:ext cx="11548872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02920" y="3310128"/>
            <a:ext cx="11183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evidence and label stay distinct — permission never makes a claim true, it only changes whether the departure is acceptable.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320040" y="4059936"/>
            <a:ext cx="5669280" cy="1874520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57200" y="41148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3891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“Use only facts from the source. Mark uncertainty clearly.”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4700016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“One possible reconstruction places the stele near a temple entrance.”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5102352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to the oracle, Γ = ∅ → not permitted → H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309360" y="4059936"/>
            <a:ext cx="5669280" cy="1874520"/>
          </a:xfrm>
          <a:prstGeom prst="rect">
            <a:avLst/>
          </a:prstGeom>
          <a:solidFill>
            <a:srgbClr val="DCFCE7"/>
          </a:solidFill>
          <a:ln w="1905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6446520" y="41148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Divergence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46520" y="43891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may add one plausible reconstruction, marked as such.”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46520" y="4700016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“One possible reconstruction places the stele near a temple entrance.”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46520" y="5102352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to the oracle, but permitted and marked as required → LD</a:t>
            </a:r>
            <a:endParaRPr lang="en-US" sz="1400" dirty="0"/>
          </a:p>
        </p:txBody>
      </p:sp>
      <p:sp>
        <p:nvSpPr>
          <p:cNvPr id="9999" name="Text Pagination"/>
          <p:cNvSpPr/>
          <p:nvPr/>
        </p:nvSpPr>
        <p:spPr>
          <a:xfrm>
            <a:off x="10800000" y="6565392"/>
            <a:ext cx="106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</a:rPr>
              <a:t>7 / 10</a:t>
            </a:r>
            <a:endParaRPr lang="en-US" sz="1000" dirty="0">
              <a:solidFill>
                <a:srgbClr val="94A3B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5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016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017" name="Text 2"/>
          <p:cNvSpPr/>
          <p:nvPr/>
        </p:nvSpPr>
        <p:spPr>
          <a:xfrm>
            <a:off x="320040" y="164592"/>
            <a:ext cx="11548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Agenda: Seven Priorities, Three Questions</a:t>
            </a:r>
            <a:endParaRPr lang="en-US" sz="2800" dirty="0"/>
          </a:p>
        </p:txBody>
      </p:sp>
      <p:sp>
        <p:nvSpPr>
          <p:cNvPr id="10018" name="Shape 3"/>
          <p:cNvSpPr/>
          <p:nvPr/>
        </p:nvSpPr>
        <p:spPr>
          <a:xfrm>
            <a:off x="320040" y="768096"/>
            <a:ext cx="115488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019" name="Shape 4"/>
          <p:cNvSpPr/>
          <p:nvPr/>
        </p:nvSpPr>
        <p:spPr>
          <a:xfrm>
            <a:off x="320040" y="6537960"/>
            <a:ext cx="1154887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020" name="Text 5"/>
          <p:cNvSpPr/>
          <p:nvPr/>
        </p:nvSpPr>
        <p:spPr>
          <a:xfrm>
            <a:off x="320040" y="6565392"/>
            <a:ext cx="11548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Carlesso Mathis  |  CIFRE PhD  </a:t>
            </a:r>
            <a:r>
              <a:rPr lang="en-US" sz="1000" dirty="0" err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Alteca</a:t>
            </a: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 |  LLM Hallucination Evaluation</a:t>
            </a:r>
            <a:endParaRPr lang="en-US" sz="10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021" name="Text Pagination"/>
          <p:cNvSpPr/>
          <p:nvPr/>
        </p:nvSpPr>
        <p:spPr>
          <a:xfrm>
            <a:off x="10800000" y="6565392"/>
            <a:ext cx="106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94A3B8"/>
                </a:solidFill>
                <a:latin typeface="Calibri"/>
              </a:rPr>
              <a:t>10 / 10</a:t>
            </a:r>
            <a:endParaRPr lang="en-US" sz="1000" dirty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10022" name="TextBox 10021"/>
          <p:cNvSpPr txBox="1"/>
          <p:nvPr/>
        </p:nvSpPr>
        <p:spPr>
          <a:xfrm>
            <a:off x="320040" y="800000"/>
            <a:ext cx="11548872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475569"/>
                </a:solidFill>
                <a:latin typeface="Calibri"/>
              </a:rPr>
              <a:t>Can evaluators apply the framework reliably?  Does an explicit contract help evaluation?  Does the approach generalize beyond text?</a:t>
            </a:r>
          </a:p>
        </p:txBody>
      </p:sp>
      <p:sp>
        <p:nvSpPr>
          <p:cNvPr id="10023" name="Rectangle 10022"/>
          <p:cNvSpPr/>
          <p:nvPr/>
        </p:nvSpPr>
        <p:spPr>
          <a:xfrm>
            <a:off x="320040" y="1350000"/>
            <a:ext cx="3683304" cy="36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24" name="Rectangle 10023"/>
          <p:cNvSpPr/>
          <p:nvPr/>
        </p:nvSpPr>
        <p:spPr>
          <a:xfrm>
            <a:off x="320040" y="1350000"/>
            <a:ext cx="3683304" cy="460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25" name="TextBox 10024"/>
          <p:cNvSpPr txBox="1"/>
          <p:nvPr/>
        </p:nvSpPr>
        <p:spPr>
          <a:xfrm>
            <a:off x="320040" y="1350000"/>
            <a:ext cx="3683304" cy="4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Reliable Annotation &amp; Checking</a:t>
            </a:r>
          </a:p>
        </p:txBody>
      </p:sp>
      <p:sp>
        <p:nvSpPr>
          <p:cNvPr id="10026" name="TextBox 10025"/>
          <p:cNvSpPr txBox="1"/>
          <p:nvPr/>
        </p:nvSpPr>
        <p:spPr>
          <a:xfrm>
            <a:off x="480040" y="1900000"/>
            <a:ext cx="3363304" cy="2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2563EB"/>
                </a:solidFill>
                <a:latin typeface="Calibri"/>
              </a:rPr>
              <a:t>1. Contract annotation</a:t>
            </a:r>
          </a:p>
        </p:txBody>
      </p:sp>
      <p:sp>
        <p:nvSpPr>
          <p:cNvPr id="10027" name="TextBox 10026"/>
          <p:cNvSpPr txBox="1"/>
          <p:nvPr/>
        </p:nvSpPr>
        <p:spPr>
          <a:xfrm>
            <a:off x="480040" y="2150000"/>
            <a:ext cx="3363304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Can evaluators consistently identify the oracle O, permission scope Γ, and required marking μ from a task context?</a:t>
            </a:r>
          </a:p>
        </p:txBody>
      </p:sp>
      <p:sp>
        <p:nvSpPr>
          <p:cNvPr id="10028" name="TextBox 10027"/>
          <p:cNvSpPr txBox="1"/>
          <p:nvPr/>
        </p:nvSpPr>
        <p:spPr>
          <a:xfrm>
            <a:off x="480040" y="2850000"/>
            <a:ext cx="3363304" cy="2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2563EB"/>
                </a:solidFill>
                <a:latin typeface="Calibri"/>
              </a:rPr>
              <a:t>2. Controlled comparisons</a:t>
            </a:r>
          </a:p>
        </p:txBody>
      </p:sp>
      <p:sp>
        <p:nvSpPr>
          <p:cNvPr id="10029" name="TextBox 10028"/>
          <p:cNvSpPr txBox="1"/>
          <p:nvPr/>
        </p:nvSpPr>
        <p:spPr>
          <a:xfrm>
            <a:off x="480040" y="3100000"/>
            <a:ext cx="3363304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Do claim labels change as predicted when one contract field changes and the rest stay fixed?</a:t>
            </a:r>
          </a:p>
        </p:txBody>
      </p:sp>
      <p:sp>
        <p:nvSpPr>
          <p:cNvPr id="10030" name="TextBox 10029"/>
          <p:cNvSpPr txBox="1"/>
          <p:nvPr/>
        </p:nvSpPr>
        <p:spPr>
          <a:xfrm>
            <a:off x="480040" y="3800000"/>
            <a:ext cx="3363304" cy="2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2563EB"/>
                </a:solidFill>
                <a:latin typeface="Calibri"/>
              </a:rPr>
              <a:t>3. Recovery across styles</a:t>
            </a:r>
          </a:p>
        </p:txBody>
      </p:sp>
      <p:sp>
        <p:nvSpPr>
          <p:cNvPr id="10031" name="TextBox 10030"/>
          <p:cNvSpPr txBox="1"/>
          <p:nvPr/>
        </p:nvSpPr>
        <p:spPr>
          <a:xfrm>
            <a:off x="480040" y="4050000"/>
            <a:ext cx="3363304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Does the evaluator recover the same content and status when only the wording changes?</a:t>
            </a:r>
          </a:p>
        </p:txBody>
      </p:sp>
      <p:sp>
        <p:nvSpPr>
          <p:cNvPr id="10032" name="Rectangle 10031"/>
          <p:cNvSpPr/>
          <p:nvPr/>
        </p:nvSpPr>
        <p:spPr>
          <a:xfrm>
            <a:off x="4252824" y="1350000"/>
            <a:ext cx="3683304" cy="36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33" name="Rectangle 10032"/>
          <p:cNvSpPr/>
          <p:nvPr/>
        </p:nvSpPr>
        <p:spPr>
          <a:xfrm>
            <a:off x="4252824" y="1350000"/>
            <a:ext cx="3683304" cy="4600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34" name="TextBox 10033"/>
          <p:cNvSpPr txBox="1"/>
          <p:nvPr/>
        </p:nvSpPr>
        <p:spPr>
          <a:xfrm>
            <a:off x="4252824" y="1350000"/>
            <a:ext cx="3683304" cy="4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Practical Use</a:t>
            </a:r>
          </a:p>
        </p:txBody>
      </p:sp>
      <p:sp>
        <p:nvSpPr>
          <p:cNvPr id="10035" name="TextBox 10034"/>
          <p:cNvSpPr txBox="1"/>
          <p:nvPr/>
        </p:nvSpPr>
        <p:spPr>
          <a:xfrm>
            <a:off x="4412824" y="1900000"/>
            <a:ext cx="3363304" cy="2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B45309"/>
                </a:solidFill>
                <a:latin typeface="Calibri"/>
              </a:rPr>
              <a:t>4. Response-level record</a:t>
            </a:r>
          </a:p>
        </p:txBody>
      </p:sp>
      <p:sp>
        <p:nvSpPr>
          <p:cNvPr id="10036" name="TextBox 10035"/>
          <p:cNvSpPr txBox="1"/>
          <p:nvPr/>
        </p:nvSpPr>
        <p:spPr>
          <a:xfrm>
            <a:off x="4412824" y="2150000"/>
            <a:ext cx="3363304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What must be added to a claim trace to judge a complete response?</a:t>
            </a:r>
          </a:p>
        </p:txBody>
      </p:sp>
      <p:sp>
        <p:nvSpPr>
          <p:cNvPr id="10037" name="TextBox 10036"/>
          <p:cNvSpPr txBox="1"/>
          <p:nvPr/>
        </p:nvSpPr>
        <p:spPr>
          <a:xfrm>
            <a:off x="4412824" y="2850000"/>
            <a:ext cx="3363304" cy="2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B45309"/>
                </a:solidFill>
                <a:latin typeface="Calibri"/>
              </a:rPr>
              <a:t>5. Reducing hallucination</a:t>
            </a:r>
          </a:p>
        </p:txBody>
      </p:sp>
      <p:sp>
        <p:nvSpPr>
          <p:cNvPr id="10038" name="TextBox 10037"/>
          <p:cNvSpPr txBox="1"/>
          <p:nvPr/>
        </p:nvSpPr>
        <p:spPr>
          <a:xfrm>
            <a:off x="4412824" y="3100000"/>
            <a:ext cx="3363304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Can hallucination be reduced while keeping the content the task actually permits?</a:t>
            </a:r>
          </a:p>
        </p:txBody>
      </p:sp>
      <p:sp>
        <p:nvSpPr>
          <p:cNvPr id="10039" name="Rectangle 10038"/>
          <p:cNvSpPr/>
          <p:nvPr/>
        </p:nvSpPr>
        <p:spPr>
          <a:xfrm>
            <a:off x="8185608" y="1350000"/>
            <a:ext cx="3683304" cy="36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40" name="Rectangle 10039"/>
          <p:cNvSpPr/>
          <p:nvPr/>
        </p:nvSpPr>
        <p:spPr>
          <a:xfrm>
            <a:off x="8185608" y="1350000"/>
            <a:ext cx="3683304" cy="46000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41" name="TextBox 10040"/>
          <p:cNvSpPr txBox="1"/>
          <p:nvPr/>
        </p:nvSpPr>
        <p:spPr>
          <a:xfrm>
            <a:off x="8185608" y="1350000"/>
            <a:ext cx="3683304" cy="4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Other Domains &amp; Change</a:t>
            </a:r>
          </a:p>
        </p:txBody>
      </p:sp>
      <p:sp>
        <p:nvSpPr>
          <p:cNvPr id="10042" name="TextBox 10041"/>
          <p:cNvSpPr txBox="1"/>
          <p:nvPr/>
        </p:nvSpPr>
        <p:spPr>
          <a:xfrm>
            <a:off x="8345608" y="1900000"/>
            <a:ext cx="3363304" cy="2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5803D"/>
                </a:solidFill>
                <a:latin typeface="Calibri"/>
              </a:rPr>
              <a:t>6. Generalization</a:t>
            </a:r>
          </a:p>
        </p:txBody>
      </p:sp>
      <p:sp>
        <p:nvSpPr>
          <p:cNvPr id="10043" name="TextBox 10042"/>
          <p:cNvSpPr txBox="1"/>
          <p:nvPr/>
        </p:nvSpPr>
        <p:spPr>
          <a:xfrm>
            <a:off x="8345608" y="2150000"/>
            <a:ext cx="3363304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Do the contract fields still apply across other domains, genres, and languages?</a:t>
            </a:r>
          </a:p>
        </p:txBody>
      </p:sp>
      <p:sp>
        <p:nvSpPr>
          <p:cNvPr id="10044" name="TextBox 10043"/>
          <p:cNvSpPr txBox="1"/>
          <p:nvPr/>
        </p:nvSpPr>
        <p:spPr>
          <a:xfrm>
            <a:off x="8345608" y="2850000"/>
            <a:ext cx="3363304" cy="2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5803D"/>
                </a:solidFill>
                <a:latin typeface="Calibri"/>
              </a:rPr>
              <a:t>7. Changing tasks &amp; actions</a:t>
            </a:r>
          </a:p>
        </p:txBody>
      </p:sp>
      <p:sp>
        <p:nvSpPr>
          <p:cNvPr id="10045" name="TextBox 10044"/>
          <p:cNvSpPr txBox="1"/>
          <p:nvPr/>
        </p:nvSpPr>
        <p:spPr>
          <a:xfrm>
            <a:off x="8345608" y="3100000"/>
            <a:ext cx="3363304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When should a contract be updated, and how can an incorrect claim affect a later action?</a:t>
            </a:r>
          </a:p>
        </p:txBody>
      </p:sp>
      <p:sp>
        <p:nvSpPr>
          <p:cNvPr id="10046" name="Rectangle 10045"/>
          <p:cNvSpPr/>
          <p:nvPr/>
        </p:nvSpPr>
        <p:spPr>
          <a:xfrm>
            <a:off x="320040" y="5212080"/>
            <a:ext cx="11548872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47" name="Rectangle 10046"/>
          <p:cNvSpPr/>
          <p:nvPr/>
        </p:nvSpPr>
        <p:spPr>
          <a:xfrm>
            <a:off x="320040" y="5212080"/>
            <a:ext cx="164592" cy="65836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48" name="TextBox 10047"/>
          <p:cNvSpPr txBox="1"/>
          <p:nvPr/>
        </p:nvSpPr>
        <p:spPr>
          <a:xfrm>
            <a:off x="640080" y="5212080"/>
            <a:ext cx="1109167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Next step: test whether evaluators can apply the truth contract reliably — and whether making it explicit actually improves hallucination evaluation.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01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002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003" name="Text 2"/>
          <p:cNvSpPr/>
          <p:nvPr/>
        </p:nvSpPr>
        <p:spPr>
          <a:xfrm>
            <a:off x="320040" y="164592"/>
            <a:ext cx="11548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Prompt to Four Claim-Label Decisions</a:t>
            </a:r>
            <a:endParaRPr lang="en-US" sz="2800" dirty="0"/>
          </a:p>
        </p:txBody>
      </p:sp>
      <p:sp>
        <p:nvSpPr>
          <p:cNvPr id="10004" name="Shape 3"/>
          <p:cNvSpPr/>
          <p:nvPr/>
        </p:nvSpPr>
        <p:spPr>
          <a:xfrm>
            <a:off x="320040" y="768096"/>
            <a:ext cx="115488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005" name="Shape 4"/>
          <p:cNvSpPr/>
          <p:nvPr/>
        </p:nvSpPr>
        <p:spPr>
          <a:xfrm>
            <a:off x="320040" y="6537960"/>
            <a:ext cx="1154887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006" name="Text 5"/>
          <p:cNvSpPr/>
          <p:nvPr/>
        </p:nvSpPr>
        <p:spPr>
          <a:xfrm>
            <a:off x="320040" y="6565392"/>
            <a:ext cx="11548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Carlesso Mathis  |  CIFRE PhD  </a:t>
            </a:r>
            <a:r>
              <a:rPr lang="en-US" sz="1000" dirty="0" err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Alteca</a:t>
            </a: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 |  LLM Hallucination Evaluation</a:t>
            </a:r>
            <a:endParaRPr lang="en-US" sz="10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007" name="Text Pagination"/>
          <p:cNvSpPr/>
          <p:nvPr/>
        </p:nvSpPr>
        <p:spPr>
          <a:xfrm>
            <a:off x="10800000" y="6565392"/>
            <a:ext cx="106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94A3B8"/>
                </a:solidFill>
                <a:latin typeface="Calibri"/>
              </a:rPr>
              <a:t>8 / 10</a:t>
            </a:r>
            <a:endParaRPr lang="en-US" sz="1000" dirty="0">
              <a:solidFill>
                <a:srgbClr val="94A3B8"/>
              </a:solidFill>
              <a:latin typeface="Calibri"/>
            </a:endParaRPr>
          </a:p>
        </p:txBody>
      </p:sp>
      <p:pic>
        <p:nvPicPr>
          <p:cNvPr id="10008" name="Picture 10007" descr="fig2_claim_lab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9926" y="900000"/>
            <a:ext cx="5049099" cy="5250000"/>
          </a:xfrm>
          <a:prstGeom prst="rect">
            <a:avLst/>
          </a:prstGeom>
        </p:spPr>
      </p:pic>
      <p:sp>
        <p:nvSpPr>
          <p:cNvPr id="10009" name="TextBox 10008"/>
          <p:cNvSpPr txBox="1"/>
          <p:nvPr/>
        </p:nvSpPr>
        <p:spPr>
          <a:xfrm>
            <a:off x="320040" y="6320000"/>
            <a:ext cx="11548872" cy="2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</a:rPr>
              <a:t>One task context, one truth contract, four claims — two entailed (G), one licensed divergence (LD), one hallucination (H).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08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009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010" name="Text 2"/>
          <p:cNvSpPr/>
          <p:nvPr/>
        </p:nvSpPr>
        <p:spPr>
          <a:xfrm>
            <a:off x="320040" y="164592"/>
            <a:ext cx="11548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Mapping: A Shared Blind Spot Across 41 Resources</a:t>
            </a:r>
            <a:endParaRPr lang="en-US" sz="2800" dirty="0"/>
          </a:p>
        </p:txBody>
      </p:sp>
      <p:sp>
        <p:nvSpPr>
          <p:cNvPr id="10011" name="Shape 3"/>
          <p:cNvSpPr/>
          <p:nvPr/>
        </p:nvSpPr>
        <p:spPr>
          <a:xfrm>
            <a:off x="320040" y="768096"/>
            <a:ext cx="115488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012" name="Shape 4"/>
          <p:cNvSpPr/>
          <p:nvPr/>
        </p:nvSpPr>
        <p:spPr>
          <a:xfrm>
            <a:off x="320040" y="6537960"/>
            <a:ext cx="1154887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013" name="Text 5"/>
          <p:cNvSpPr/>
          <p:nvPr/>
        </p:nvSpPr>
        <p:spPr>
          <a:xfrm>
            <a:off x="320040" y="6565392"/>
            <a:ext cx="11548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Carlesso Mathis  |  CIFRE PhD  </a:t>
            </a:r>
            <a:r>
              <a:rPr lang="en-US" sz="1000" dirty="0" err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Alteca</a:t>
            </a: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 |  LLM Hallucination Evaluation</a:t>
            </a:r>
            <a:endParaRPr lang="en-US" sz="10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014" name="Text Pagination"/>
          <p:cNvSpPr/>
          <p:nvPr/>
        </p:nvSpPr>
        <p:spPr>
          <a:xfrm>
            <a:off x="10800000" y="6565392"/>
            <a:ext cx="106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94A3B8"/>
                </a:solidFill>
                <a:latin typeface="Calibri"/>
              </a:rPr>
              <a:t>9 / 10</a:t>
            </a:r>
            <a:endParaRPr lang="en-US" sz="1000" dirty="0">
              <a:solidFill>
                <a:srgbClr val="94A3B8"/>
              </a:solidFill>
              <a:latin typeface="Calibri"/>
            </a:endParaRPr>
          </a:p>
        </p:txBody>
      </p:sp>
      <p:pic>
        <p:nvPicPr>
          <p:cNvPr id="10015" name="Picture 10014" descr="fig3_resource_map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743" y="900000"/>
            <a:ext cx="8635466" cy="5250000"/>
          </a:xfrm>
          <a:prstGeom prst="rect">
            <a:avLst/>
          </a:prstGeom>
        </p:spPr>
      </p:pic>
      <p:sp>
        <p:nvSpPr>
          <p:cNvPr id="10016" name="TextBox 10015"/>
          <p:cNvSpPr txBox="1"/>
          <p:nvPr/>
        </p:nvSpPr>
        <p:spPr>
          <a:xfrm>
            <a:off x="320040" y="6320000"/>
            <a:ext cx="11548872" cy="2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</a:rPr>
              <a:t>WritingBench is the only resource that scores requested style — none holds claim content and status marking fixed while doing so.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9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228</cp:revision>
  <dcterms:created xsi:type="dcterms:W3CDTF">2026-06-09T09:50:50Z</dcterms:created>
  <dcterms:modified xsi:type="dcterms:W3CDTF">2026-09-18T07:49:02Z</dcterms:modified>
</cp:coreProperties>
</file>