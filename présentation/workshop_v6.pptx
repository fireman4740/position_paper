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58" r:id="rId4"/>
    <p:sldId id="257" r:id="rId5"/>
    <p:sldId id="259" r:id="rId6"/>
    <p:sldId id="260" r:id="rId7"/>
    <p:sldId id="261" r:id="rId8"/>
    <p:sldId id="267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910E74-2AA1-C099-D531-B2F3A10BD70E}" v="31" dt="2026-07-06T13:52:37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DDD63-427A-4635-A057-1F846572A260}" type="datetimeFigureOut">
              <a:t>9/18/2026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9B2608-C01A-4A01-85FB-1C5AACB2BCFA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142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Ajouter</a:t>
            </a:r>
            <a:r>
              <a:rPr lang="en-US" dirty="0">
                <a:ea typeface="Calibri"/>
                <a:cs typeface="Calibri"/>
              </a:rPr>
              <a:t> les prompts des taches </a:t>
            </a:r>
          </a:p>
          <a:p>
            <a:r>
              <a:rPr lang="en-US" dirty="0" err="1">
                <a:ea typeface="Calibri"/>
                <a:cs typeface="Calibri"/>
              </a:rPr>
              <a:t>Introdut</a:t>
            </a:r>
            <a:r>
              <a:rPr lang="en-US" dirty="0">
                <a:ea typeface="Calibri" panose="020F0502020204030204"/>
                <a:cs typeface="Calibri" panose="020F0502020204030204"/>
              </a:rPr>
              <a:t> le TR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Metre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anglais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A6EF9-6467-4282-891E-55FD14A1670B}" type="slidenum">
              <a:rPr lang="fr-FR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3400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Ajouter</a:t>
            </a:r>
            <a:r>
              <a:rPr lang="en-US" dirty="0">
                <a:ea typeface="Calibri"/>
                <a:cs typeface="Calibri"/>
              </a:rPr>
              <a:t> les </a:t>
            </a:r>
            <a:r>
              <a:rPr lang="en-US" dirty="0" err="1">
                <a:ea typeface="Calibri"/>
                <a:cs typeface="Calibri"/>
              </a:rPr>
              <a:t>exemples</a:t>
            </a:r>
            <a:r>
              <a:rPr lang="en-US" dirty="0">
                <a:ea typeface="Calibri"/>
                <a:cs typeface="Calibri"/>
              </a:rPr>
              <a:t> revoir les </a:t>
            </a:r>
            <a:r>
              <a:rPr lang="en-US" dirty="0" err="1">
                <a:ea typeface="Calibri"/>
                <a:cs typeface="Calibri"/>
              </a:rPr>
              <a:t>exemples</a:t>
            </a:r>
            <a:r>
              <a:rPr lang="en-US" dirty="0">
                <a:ea typeface="Calibri"/>
                <a:cs typeface="Calibri"/>
              </a:rPr>
              <a:t> avec des </a:t>
            </a:r>
            <a:r>
              <a:rPr lang="en-US" dirty="0" err="1">
                <a:ea typeface="Calibri"/>
                <a:cs typeface="Calibri"/>
              </a:rPr>
              <a:t>exemples</a:t>
            </a:r>
            <a:r>
              <a:rPr lang="en-US" dirty="0">
                <a:ea typeface="Calibri"/>
                <a:cs typeface="Calibri"/>
              </a:rPr>
              <a:t> de donnée reel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56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86759"/>
            <a:ext cx="12018159" cy="507124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2281007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2221887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164592"/>
            <a:ext cx="11155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Is Relative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BAD0F8"/>
                </a:solidFill>
                <a:latin typeface="Calibri"/>
                <a:ea typeface="Calibri"/>
                <a:cs typeface="Calibri"/>
              </a:rPr>
              <a:t>Toward a Regime-Aware LLM Evaluation Benchmark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2127" y="4209919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32127" y="434707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2127" y="4621399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Carlesso Mathis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2127" y="5215759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32127" y="535291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2127" y="5645527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Elöd Egyed-Zsigmond  |  Stefan Duffner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2127" y="6011287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Martino Lovisetto  (Alteca)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</a:t>
            </a:r>
            <a:r>
              <a:rPr lang="en-US" sz="85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Alteca</a:t>
            </a:r>
            <a:r>
              <a:rPr lang="en-US" sz="85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  |  LLM Hallucination Evaluation</a:t>
            </a:r>
            <a:endParaRPr lang="en-US" sz="850" dirty="0">
              <a:latin typeface="Calibri"/>
              <a:ea typeface="Calibri"/>
              <a:cs typeface="Calibri"/>
            </a:endParaRPr>
          </a:p>
        </p:txBody>
      </p:sp>
      <p:sp>
        <p:nvSpPr>
          <p:cNvPr id="9999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1 / </a:t>
            </a:r>
            <a:r>
              <a:rPr lang="en-US" sz="1000">
                <a:solidFill>
                  <a:srgbClr val="94A3B8"/>
                </a:solidFill>
                <a:latin typeface="Calibri"/>
              </a:rPr>
              <a:t>9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CV scientifique — Mathis Carlesso</a:t>
            </a:r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768096"/>
            <a:ext cx="11548872" cy="0"/>
          </a:xfrm>
          <a:prstGeom prst="rect">
            <a:avLst/>
          </a:prstGeom>
          <a:noFill/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914400"/>
            <a:ext cx="11548872" cy="7863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914400"/>
            <a:ext cx="164592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ame"/>
          <p:cNvSpPr txBox="1"/>
          <p:nvPr/>
        </p:nvSpPr>
        <p:spPr>
          <a:xfrm>
            <a:off x="548640" y="98755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MATHIS CARLESSO</a:t>
            </a:r>
          </a:p>
        </p:txBody>
      </p:sp>
      <p:sp>
        <p:nvSpPr>
          <p:cNvPr id="9" name="Role"/>
          <p:cNvSpPr txBox="1"/>
          <p:nvPr/>
        </p:nvSpPr>
        <p:spPr>
          <a:xfrm>
            <a:off x="548640" y="1289304"/>
            <a:ext cx="749807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BAD0F8"/>
                </a:solidFill>
                <a:latin typeface="Calibri"/>
              </a:rPr>
              <a:t>Doctorant CIFRE en IA — évaluation des LLM, hallucination &amp; créativité computationnelle</a:t>
            </a:r>
          </a:p>
        </p:txBody>
      </p:sp>
      <p:sp>
        <p:nvSpPr>
          <p:cNvPr id="10" name="Affiliations"/>
          <p:cNvSpPr txBox="1"/>
          <p:nvPr/>
        </p:nvSpPr>
        <p:spPr>
          <a:xfrm>
            <a:off x="8458200" y="1042415"/>
            <a:ext cx="31546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INSA Lyon · CNRS LIRIS UMR5205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Alteca — R&amp;D &amp; Innovation</a:t>
            </a:r>
          </a:p>
        </p:txBody>
      </p:sp>
      <p:sp>
        <p:nvSpPr>
          <p:cNvPr id="11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1901952"/>
            <a:ext cx="54406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Header"/>
          <p:cNvSpPr txBox="1"/>
          <p:nvPr/>
        </p:nvSpPr>
        <p:spPr>
          <a:xfrm>
            <a:off x="475488" y="1975104"/>
            <a:ext cx="51663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Parcours académique</a:t>
            </a:r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901952"/>
            <a:ext cx="5788152" cy="38404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hesisHeader"/>
          <p:cNvSpPr txBox="1"/>
          <p:nvPr/>
        </p:nvSpPr>
        <p:spPr>
          <a:xfrm>
            <a:off x="6236208" y="1975104"/>
            <a:ext cx="5532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Contributions de thèse</a:t>
            </a:r>
          </a:p>
        </p:txBody>
      </p:sp>
      <p:sp>
        <p:nvSpPr>
          <p:cNvPr id="15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2359152"/>
            <a:ext cx="544068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2359152"/>
            <a:ext cx="109728" cy="2487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Body"/>
          <p:cNvSpPr txBox="1"/>
          <p:nvPr/>
        </p:nvSpPr>
        <p:spPr>
          <a:xfrm>
            <a:off x="566928" y="2487168"/>
            <a:ext cx="4983480" cy="21579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1" dirty="0">
                <a:solidFill>
                  <a:srgbClr val="1E293B"/>
                </a:solidFill>
                <a:latin typeface="Calibri"/>
              </a:rPr>
              <a:t>2024–</a:t>
            </a:r>
            <a:r>
              <a:rPr sz="1500" b="1" dirty="0" err="1">
                <a:solidFill>
                  <a:srgbClr val="1E293B"/>
                </a:solidFill>
                <a:latin typeface="Calibri"/>
              </a:rPr>
              <a:t>en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E293B"/>
                </a:solidFill>
                <a:latin typeface="Calibri"/>
              </a:rPr>
              <a:t>cours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 — </a:t>
            </a:r>
            <a:r>
              <a:rPr sz="1500" b="1" dirty="0" err="1">
                <a:solidFill>
                  <a:srgbClr val="1E293B"/>
                </a:solidFill>
                <a:latin typeface="Calibri"/>
              </a:rPr>
              <a:t>Doctorat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 CIFRE </a:t>
            </a:r>
            <a:r>
              <a:rPr sz="1500" b="1" dirty="0" err="1">
                <a:solidFill>
                  <a:srgbClr val="1E293B"/>
                </a:solidFill>
                <a:latin typeface="Calibri"/>
              </a:rPr>
              <a:t>en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 IA</a:t>
            </a:r>
            <a:r>
              <a:rPr lang="fr-FR" sz="1500" b="1" dirty="0">
                <a:solidFill>
                  <a:srgbClr val="1E293B"/>
                </a:solidFill>
                <a:latin typeface="Calibri"/>
              </a:rPr>
              <a:t> </a:t>
            </a:r>
            <a:endParaRPr lang="fr-FR" sz="1500" b="1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dirty="0">
                <a:solidFill>
                  <a:srgbClr val="475569"/>
                </a:solidFill>
                <a:latin typeface="Calibri"/>
              </a:rPr>
              <a:t>INSA Lyon · CNRS, LIRIS UMR5205 /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Alteca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— Villeurbanne</a:t>
            </a:r>
            <a:endParaRPr sz="1400" b="0" dirty="0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dirty="0" err="1">
                <a:solidFill>
                  <a:srgbClr val="475569"/>
                </a:solidFill>
                <a:latin typeface="Calibri"/>
              </a:rPr>
              <a:t>Sujet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: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évaluation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des LLM sous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contraintes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d’intention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utilisateur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, régime de vérité,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factualité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fidélité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et hallucination.</a:t>
            </a:r>
            <a:endParaRPr sz="1400" b="0" dirty="0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1" dirty="0">
                <a:solidFill>
                  <a:srgbClr val="1E293B"/>
                </a:solidFill>
                <a:latin typeface="Calibri"/>
              </a:rPr>
              <a:t>2024 </a:t>
            </a:r>
            <a:r>
              <a:rPr lang="fr-FR" sz="1500" b="1" dirty="0">
                <a:solidFill>
                  <a:srgbClr val="1E293B"/>
                </a:solidFill>
                <a:latin typeface="Calibri"/>
              </a:rPr>
              <a:t>- 2019—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 Diplôme </a:t>
            </a:r>
            <a:r>
              <a:rPr sz="1500" b="1" dirty="0" err="1">
                <a:solidFill>
                  <a:srgbClr val="1E293B"/>
                </a:solidFill>
                <a:latin typeface="Calibri"/>
              </a:rPr>
              <a:t>d’ingénieur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E293B"/>
                </a:solidFill>
                <a:latin typeface="Calibri"/>
              </a:rPr>
              <a:t>en</a:t>
            </a:r>
            <a:r>
              <a:rPr sz="1500" b="1" dirty="0">
                <a:solidFill>
                  <a:srgbClr val="1E293B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E293B"/>
                </a:solidFill>
                <a:latin typeface="Calibri"/>
              </a:rPr>
              <a:t>informatique</a:t>
            </a:r>
            <a:r>
              <a:rPr lang="fr-FR" sz="1500" b="1" dirty="0">
                <a:solidFill>
                  <a:srgbClr val="1E293B"/>
                </a:solidFill>
                <a:latin typeface="Calibri"/>
              </a:rPr>
              <a:t> </a:t>
            </a:r>
            <a:endParaRPr sz="1500" b="1" dirty="0" err="1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0" dirty="0">
                <a:solidFill>
                  <a:srgbClr val="475569"/>
                </a:solidFill>
                <a:latin typeface="Calibri"/>
              </a:rPr>
              <a:t>CESI Bordeaux —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spécialisation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.NET/C#,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systèmes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&amp; réseaux, IA et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développement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web.</a:t>
            </a:r>
            <a:endParaRPr sz="1400" b="0" dirty="0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359152"/>
            <a:ext cx="578815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359152"/>
            <a:ext cx="109728" cy="248716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hesisBody"/>
          <p:cNvSpPr txBox="1"/>
          <p:nvPr/>
        </p:nvSpPr>
        <p:spPr>
          <a:xfrm>
            <a:off x="6327648" y="2487168"/>
            <a:ext cx="5321808" cy="21579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Cadre TR-aware</a:t>
            </a:r>
            <a:r>
              <a:rPr sz="1400" b="0">
                <a:solidFill>
                  <a:srgbClr val="475569"/>
                </a:solidFill>
                <a:latin typeface="Calibri"/>
              </a:rPr>
              <a:t> — formalisation de TR(p) = (O, σ, κ) pour distinguer hallucination (H) et divergence productive (PD).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Corpus &amp; annotation</a:t>
            </a:r>
            <a:r>
              <a:rPr sz="1400" b="0">
                <a:solidFill>
                  <a:srgbClr val="475569"/>
                </a:solidFill>
                <a:latin typeface="Calibri"/>
              </a:rPr>
              <a:t> — protocoles humains, accord inter-annotateurs, intention du prompt et validité expérimentale.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Évaluation claim-level</a:t>
            </a:r>
            <a:r>
              <a:rPr sz="1400" b="0">
                <a:solidFill>
                  <a:srgbClr val="475569"/>
                </a:solidFill>
                <a:latin typeface="Calibri"/>
              </a:rPr>
              <a:t> — unités atomiques de claims, calibration de scores et premiers entraînements.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Étude expérimentale</a:t>
            </a:r>
            <a:r>
              <a:rPr sz="1400" b="0">
                <a:solidFill>
                  <a:srgbClr val="F59E0B"/>
                </a:solidFill>
                <a:latin typeface="Calibri"/>
              </a:rPr>
              <a:t> — 12 469 textes · 10 modèles · 310 357 claims.</a:t>
            </a:r>
          </a:p>
        </p:txBody>
      </p:sp>
      <p:sp>
        <p:nvSpPr>
          <p:cNvPr id="21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5093208"/>
            <a:ext cx="11548872" cy="1078992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5093208"/>
            <a:ext cx="164592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PubsHeader"/>
          <p:cNvSpPr txBox="1"/>
          <p:nvPr/>
        </p:nvSpPr>
        <p:spPr>
          <a:xfrm>
            <a:off x="566928" y="5193792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E293B"/>
                </a:solidFill>
                <a:latin typeface="Calibri"/>
              </a:rPr>
              <a:t>Publications &amp; manuscrits</a:t>
            </a:r>
          </a:p>
        </p:txBody>
      </p:sp>
      <p:sp>
        <p:nvSpPr>
          <p:cNvPr id="24" name="PubsBody"/>
          <p:cNvSpPr txBox="1"/>
          <p:nvPr/>
        </p:nvSpPr>
        <p:spPr>
          <a:xfrm>
            <a:off x="3352074" y="5193792"/>
            <a:ext cx="8260806" cy="894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 dirty="0">
                <a:solidFill>
                  <a:srgbClr val="1E293B"/>
                </a:solidFill>
                <a:latin typeface="Calibri"/>
              </a:rPr>
              <a:t>Hallucination Is Relative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— position paper UAI 2026, version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révisée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préparation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pour Computational Linguistics.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 b="0" dirty="0">
                <a:solidFill>
                  <a:srgbClr val="475569"/>
                </a:solidFill>
                <a:latin typeface="Calibri"/>
              </a:rPr>
              <a:t>Survey ECIR </a:t>
            </a:r>
            <a:r>
              <a:rPr sz="1400" b="0" dirty="0" err="1">
                <a:solidFill>
                  <a:srgbClr val="475569"/>
                </a:solidFill>
                <a:latin typeface="Calibri"/>
              </a:rPr>
              <a:t>soumis</a:t>
            </a:r>
            <a:r>
              <a:rPr sz="1400" b="0" dirty="0">
                <a:solidFill>
                  <a:srgbClr val="475569"/>
                </a:solidFill>
                <a:latin typeface="Calibri"/>
              </a:rPr>
              <a:t> · </a:t>
            </a:r>
            <a:r>
              <a:rPr lang="fr-FR" sz="1400" dirty="0">
                <a:solidFill>
                  <a:srgbClr val="475569"/>
                </a:solidFill>
                <a:latin typeface="Calibri"/>
              </a:rPr>
              <a:t>rejeté </a:t>
            </a:r>
            <a:endParaRPr sz="1400" b="0" dirty="0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040" y="6537960"/>
            <a:ext cx="11548872" cy="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ooter"/>
          <p:cNvSpPr txBox="1"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Carlesso Mathis  |  CIFRE PhD  Alteca  |  LLM Hallucination Evaluation</a:t>
            </a:r>
          </a:p>
        </p:txBody>
      </p:sp>
      <p:sp>
        <p:nvSpPr>
          <p:cNvPr id="29" name="Text Pagination"/>
          <p:cNvSpPr txBox="1"/>
          <p:nvPr/>
        </p:nvSpPr>
        <p:spPr>
          <a:xfrm>
            <a:off x="10799064" y="6565392"/>
            <a:ext cx="1069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Paradox: Not All Hallucinations Are Equal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</a:t>
            </a:r>
            <a:r>
              <a:rPr lang="en-US" sz="10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Alteca</a:t>
            </a: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|  LLM Hallucination Evaluation</a:t>
            </a: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5022402" cy="3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932688"/>
            <a:ext cx="5033367" cy="5230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932688"/>
            <a:ext cx="479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AI assistant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228000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patient presents with severe arrhythmia"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7800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by the LLM — not in the source document.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09000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9360" y="932688"/>
            <a:ext cx="5559640" cy="3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309360" y="932688"/>
            <a:ext cx="5570604" cy="54495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09360" y="93268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writing assistant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92240" y="228000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 eyes gleamed like blades of winter steel"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63506" y="27800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by the LLM — not factually grounded.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09000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WAS ASKED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391539" y="1640438"/>
            <a:ext cx="822960" cy="82296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391539" y="165140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20040" y="4020000"/>
            <a:ext cx="11548872" cy="14813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2920" y="4111584"/>
            <a:ext cx="11183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outputs were invented.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02920" y="4587072"/>
            <a:ext cx="11183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AD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is a problem.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2920" y="4925400"/>
            <a:ext cx="11183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AD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difference: what the prompt authorized.</a:t>
            </a:r>
            <a:endParaRPr lang="en-US" sz="2000" dirty="0"/>
          </a:p>
        </p:txBody>
      </p:sp>
      <p:sp>
        <p:nvSpPr>
          <p:cNvPr id="9999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3 / </a:t>
            </a:r>
            <a:r>
              <a:rPr lang="en-US" sz="1000">
                <a:solidFill>
                  <a:srgbClr val="94A3B8"/>
                </a:solidFill>
                <a:latin typeface="Calibri"/>
              </a:rPr>
              <a:t>9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30" name="Text Prompt Label L"/>
          <p:cNvSpPr/>
          <p:nvPr/>
        </p:nvSpPr>
        <p:spPr>
          <a:xfrm>
            <a:off x="502920" y="1468000"/>
            <a:ext cx="530352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</a:rPr>
              <a:t>PROMPT</a:t>
            </a:r>
          </a:p>
        </p:txBody>
      </p:sp>
      <p:sp>
        <p:nvSpPr>
          <p:cNvPr id="31" name="Text Prompt L"/>
          <p:cNvSpPr/>
          <p:nvPr/>
        </p:nvSpPr>
        <p:spPr>
          <a:xfrm>
            <a:off x="502920" y="1640000"/>
            <a:ext cx="53035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</a:rPr>
              <a:t>“Summarize this patient’s condition from the attached file.”</a:t>
            </a:r>
          </a:p>
        </p:txBody>
      </p:sp>
      <p:sp>
        <p:nvSpPr>
          <p:cNvPr id="32" name="Text Response Label L"/>
          <p:cNvSpPr/>
          <p:nvPr/>
        </p:nvSpPr>
        <p:spPr>
          <a:xfrm>
            <a:off x="502920" y="2100000"/>
            <a:ext cx="530352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</a:rPr>
              <a:t>RESPONSE</a:t>
            </a:r>
          </a:p>
        </p:txBody>
      </p:sp>
      <p:sp>
        <p:nvSpPr>
          <p:cNvPr id="33" name="Text Prompt Label R"/>
          <p:cNvSpPr/>
          <p:nvPr/>
        </p:nvSpPr>
        <p:spPr>
          <a:xfrm>
            <a:off x="6492240" y="1468000"/>
            <a:ext cx="530352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</a:rPr>
              <a:t>PROMPT</a:t>
            </a:r>
          </a:p>
        </p:txBody>
      </p:sp>
      <p:sp>
        <p:nvSpPr>
          <p:cNvPr id="34" name="Text Prompt R"/>
          <p:cNvSpPr/>
          <p:nvPr/>
        </p:nvSpPr>
        <p:spPr>
          <a:xfrm>
            <a:off x="6492240" y="1640000"/>
            <a:ext cx="53035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</a:rPr>
              <a:t>“Write a dramatic opening line for a fantasy scene.”</a:t>
            </a:r>
          </a:p>
        </p:txBody>
      </p:sp>
      <p:sp>
        <p:nvSpPr>
          <p:cNvPr id="35" name="Text Response Label R"/>
          <p:cNvSpPr/>
          <p:nvPr/>
        </p:nvSpPr>
        <p:spPr>
          <a:xfrm>
            <a:off x="6492240" y="2100000"/>
            <a:ext cx="530352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</a:rPr>
              <a:t>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A Missing Distinction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Alteca  |  LLM Hallucination Evaluation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11548872" cy="1042416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932688"/>
            <a:ext cx="164592" cy="10424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1069848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inevitably produce unsupported claims — a structural, mathematical property.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11548872" cy="1042416"/>
          </a:xfrm>
          <a:prstGeom prst="rect">
            <a:avLst/>
          </a:prstGeom>
          <a:solidFill>
            <a:srgbClr val="F8FAFC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2176272"/>
            <a:ext cx="164592" cy="10424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2313432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benchmarks treat ALL deviations as defects, regardless of the task.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0040" y="3419856"/>
            <a:ext cx="11548872" cy="1042416"/>
          </a:xfrm>
          <a:prstGeom prst="rect">
            <a:avLst/>
          </a:prstGeom>
          <a:solidFill>
            <a:srgbClr val="F8FAFC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3419856"/>
            <a:ext cx="164592" cy="104241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" y="3557016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output can be a failure in one benchmark and a success in another.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0040" y="4663440"/>
            <a:ext cx="11548872" cy="1042416"/>
          </a:xfrm>
          <a:prstGeom prst="rect">
            <a:avLst/>
          </a:prstGeom>
          <a:solidFill>
            <a:srgbClr val="F8FAFC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4663440"/>
            <a:ext cx="164592" cy="104241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4800600"/>
            <a:ext cx="11091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not in the text — it is in what the prompt authorized.</a:t>
            </a:r>
            <a:endParaRPr lang="en-US" sz="2000" dirty="0"/>
          </a:p>
        </p:txBody>
      </p:sp>
      <p:sp>
        <p:nvSpPr>
          <p:cNvPr id="9999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Calibri"/>
              </a:rPr>
              <a:t>4 </a:t>
            </a:r>
            <a:r>
              <a:rPr lang="en-US" sz="1000" dirty="0">
                <a:solidFill>
                  <a:srgbClr val="94A3B8"/>
                </a:solidFill>
                <a:latin typeface="Calibri"/>
              </a:rPr>
              <a:t>/ </a:t>
            </a:r>
            <a:r>
              <a:rPr lang="en-US" sz="1000">
                <a:solidFill>
                  <a:srgbClr val="94A3B8"/>
                </a:solidFill>
                <a:latin typeface="Calibri"/>
              </a:rPr>
              <a:t>9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Evaluation: A Shared Blind Spot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</a:t>
            </a:r>
            <a:r>
              <a:rPr lang="en-US" sz="10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Alteca</a:t>
            </a: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|  LLM Hallucination Evaluation</a:t>
            </a: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5669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932688"/>
            <a:ext cx="5669280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93268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benchmarks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1536192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unsupported content = defect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oracle (KB or source document)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Implicitly assume low invention license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what the prompt actually authorized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932688"/>
            <a:ext cx="5669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309360" y="932688"/>
            <a:ext cx="5669280" cy="5120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309360" y="93268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benchmarks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92240" y="1536192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= virtue, to be maximized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check factual grounding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 licensed PD with hallucination 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Evaluator-dependent, hard to reproduce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4476" y="1005840"/>
            <a:ext cx="0" cy="3977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11548872" cy="658368"/>
          </a:xfrm>
          <a:prstGeom prst="rect">
            <a:avLst/>
          </a:prstGeom>
          <a:solidFill>
            <a:srgbClr val="F8FAFC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164592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5248656"/>
            <a:ext cx="11091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blind spot: neither tradition conditions its score on what the prompt actually authorized.</a:t>
            </a:r>
            <a:endParaRPr lang="en-US" sz="1600" dirty="0"/>
          </a:p>
        </p:txBody>
      </p:sp>
      <p:sp>
        <p:nvSpPr>
          <p:cNvPr id="9999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Calibri"/>
              </a:rPr>
              <a:t>5 </a:t>
            </a:r>
            <a:r>
              <a:rPr lang="en-US" sz="1000" dirty="0">
                <a:solidFill>
                  <a:srgbClr val="94A3B8"/>
                </a:solidFill>
                <a:latin typeface="Calibri"/>
              </a:rPr>
              <a:t>/ </a:t>
            </a:r>
            <a:r>
              <a:rPr lang="en-US" sz="1000">
                <a:solidFill>
                  <a:srgbClr val="94A3B8"/>
                </a:solidFill>
                <a:latin typeface="Calibri"/>
              </a:rPr>
              <a:t>9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The Truth Regime  TR(p) = (O, σ, κ)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</a:t>
            </a:r>
            <a:r>
              <a:rPr lang="en-US" sz="10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Alteca</a:t>
            </a: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|  LLM Hallucination Evaluation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11548872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11183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TR( p )  =  ( O ,  σ ,  κ )  — a task-specific contract specifying what must be true, uncertain, or invented.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3788664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3788664" cy="5303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3788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—  Oracle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2450592"/>
            <a:ext cx="342290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reference must claims be grounded in?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document, Wikipedia, world knowledge...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00144" y="1828800"/>
            <a:ext cx="3788664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200144" y="1828800"/>
            <a:ext cx="3788664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200144" y="1828800"/>
            <a:ext cx="3788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—  Stylistic latitude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3024" y="2450592"/>
            <a:ext cx="342290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freely may form vary while preserving propositions?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σ0 Neutral  /  σ1 Pedagogical  /  σ2 Literary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80248" y="1828800"/>
            <a:ext cx="3788664" cy="3154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080248" y="1828800"/>
            <a:ext cx="3788664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080248" y="1828800"/>
            <a:ext cx="3788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 —  Invention license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63128" y="2450592"/>
            <a:ext cx="342290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new factual content be introduced?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κ0 Factual  /  κ1 Speculative  /  κ2 Fictional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" y="5074920"/>
            <a:ext cx="1154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LLM output: Hallucination (H) under strict regime  —  Productive Divergence (PD) under permissive regime.</a:t>
            </a:r>
            <a:endParaRPr lang="en-US" sz="1400" dirty="0"/>
          </a:p>
        </p:txBody>
      </p:sp>
      <p:sp>
        <p:nvSpPr>
          <p:cNvPr id="9999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6 / </a:t>
            </a:r>
            <a:r>
              <a:rPr lang="en-US" sz="1000">
                <a:solidFill>
                  <a:srgbClr val="94A3B8"/>
                </a:solidFill>
                <a:latin typeface="Calibri"/>
              </a:rPr>
              <a:t>9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vs. Productive Divergence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</a:t>
            </a:r>
            <a:r>
              <a:rPr lang="en-US" sz="10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Alteca</a:t>
            </a:r>
            <a:r>
              <a:rPr lang="en-US" sz="10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  |  LLM Hallucination Evaluation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11548872" cy="1042416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932688"/>
            <a:ext cx="164592" cy="10424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96926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 (H)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80" y="12984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TR-violation. The model asserts a claim as true when TR requires truth, but the claim is unsupported or incorrect.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" y="2121408"/>
            <a:ext cx="11548872" cy="1042416"/>
          </a:xfrm>
          <a:prstGeom prst="rect">
            <a:avLst/>
          </a:prstGeom>
          <a:solidFill>
            <a:srgbClr val="DCFCE7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2121408"/>
            <a:ext cx="164592" cy="104241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215798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Divergence  (PD)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080" y="24871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that would be H under a strict standard, but is allowed and useful under the prompt's TR.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" y="3310128"/>
            <a:ext cx="1154887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02920" y="3310128"/>
            <a:ext cx="11183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same deviation is H or PD depending on what the prompt authorized.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0040" y="4059936"/>
            <a:ext cx="5669280" cy="18745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"Summarize this medical report."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70001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"The patient has diabetes." (not in the report)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10235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requires truth → unsupported claim = 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4059936"/>
            <a:ext cx="5669280" cy="18745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46520" y="4114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Divergence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4389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"Write a poem about quantum physics."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470001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"Electrons dream in parallel worlds."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510235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allows metaphors → creative invention = PD</a:t>
            </a:r>
            <a:endParaRPr lang="en-US" sz="1400" dirty="0"/>
          </a:p>
        </p:txBody>
      </p:sp>
      <p:sp>
        <p:nvSpPr>
          <p:cNvPr id="9999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7 / </a:t>
            </a:r>
            <a:r>
              <a:rPr lang="en-US" sz="1000">
                <a:solidFill>
                  <a:srgbClr val="94A3B8"/>
                </a:solidFill>
                <a:latin typeface="Calibri"/>
              </a:rPr>
              <a:t>9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nnotation 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BlueBar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Title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Towards an Operational Evaluation Framework </a:t>
            </a:r>
            <a:endParaRPr lang="en-US" sz="2400" b="1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5" name="Shape SepTop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SepBot"/>
          <p:cNvSpPr/>
          <p:nvPr/>
        </p:nvSpPr>
        <p:spPr>
          <a:xfrm>
            <a:off x="407752" y="5496377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Footer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Carlesso Mathis  |  CIFRE PhD  Alteca  |  LLM Hallucination Evaluation</a:t>
            </a:r>
          </a:p>
        </p:txBody>
      </p:sp>
      <p:sp>
        <p:nvSpPr>
          <p:cNvPr id="8" name="Shape TaskBanner"/>
          <p:cNvSpPr/>
          <p:nvPr/>
        </p:nvSpPr>
        <p:spPr>
          <a:xfrm>
            <a:off x="320040" y="800000"/>
            <a:ext cx="11548872" cy="511173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TaskBanner"/>
          <p:cNvSpPr/>
          <p:nvPr/>
        </p:nvSpPr>
        <p:spPr>
          <a:xfrm>
            <a:off x="502920" y="877304"/>
            <a:ext cx="11183112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/>
              </a:rPr>
              <a:t>TASK</a:t>
            </a:r>
            <a:r>
              <a:rPr lang="en-US" sz="1200" dirty="0">
                <a:solidFill>
                  <a:srgbClr val="CBD5E1"/>
                </a:solidFill>
                <a:latin typeface="Calibri"/>
              </a:rPr>
              <a:t>  —  The annotator reads only the generated prompt (never the output) and infers what the request authorizes. Manipulation test: humans must recover the prescribed level.</a:t>
            </a:r>
          </a:p>
        </p:txBody>
      </p:sp>
      <p:sp>
        <p:nvSpPr>
          <p:cNvPr id="10" name="Shape SigmaHeader"/>
          <p:cNvSpPr/>
          <p:nvPr/>
        </p:nvSpPr>
        <p:spPr>
          <a:xfrm>
            <a:off x="320040" y="1488174"/>
            <a:ext cx="5700000" cy="370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SigmaHeader"/>
          <p:cNvSpPr/>
          <p:nvPr/>
        </p:nvSpPr>
        <p:spPr>
          <a:xfrm>
            <a:off x="320040" y="1488174"/>
            <a:ext cx="5700000" cy="3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σ_prompt — Style Level  |  F : Figures  ·  V : Voice / Expressiveness</a:t>
            </a:r>
          </a:p>
        </p:txBody>
      </p:sp>
      <p:sp>
        <p:nvSpPr>
          <p:cNvPr id="12" name="Shape S0BG"/>
          <p:cNvSpPr/>
          <p:nvPr/>
        </p:nvSpPr>
        <p:spPr>
          <a:xfrm>
            <a:off x="320040" y="1908174"/>
            <a:ext cx="5700000" cy="61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S0Accent"/>
          <p:cNvSpPr/>
          <p:nvPr/>
        </p:nvSpPr>
        <p:spPr>
          <a:xfrm>
            <a:off x="320040" y="1908174"/>
            <a:ext cx="5700000" cy="70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S0"/>
          <p:cNvSpPr/>
          <p:nvPr/>
        </p:nvSpPr>
        <p:spPr>
          <a:xfrm>
            <a:off x="410040" y="1988174"/>
            <a:ext cx="5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/>
              </a:rPr>
              <a:t>σ = 0 — Neutral / Literal Form  (F=0 and V=0)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No marked style. E.g.: “in a neutral and factual way”, “precisely”, encyclopedic tone, bare question. Only lexicalized metaphors allowed.</a:t>
            </a:r>
          </a:p>
        </p:txBody>
      </p:sp>
      <p:sp>
        <p:nvSpPr>
          <p:cNvPr id="15" name="Shape S1BG"/>
          <p:cNvSpPr/>
          <p:nvPr/>
        </p:nvSpPr>
        <p:spPr>
          <a:xfrm>
            <a:off x="320040" y="2798419"/>
            <a:ext cx="5700000" cy="61000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S1Accent"/>
          <p:cNvSpPr/>
          <p:nvPr/>
        </p:nvSpPr>
        <p:spPr>
          <a:xfrm>
            <a:off x="320040" y="2798419"/>
            <a:ext cx="5700000" cy="70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S1"/>
          <p:cNvSpPr/>
          <p:nvPr/>
        </p:nvSpPr>
        <p:spPr>
          <a:xfrm>
            <a:off x="410040" y="2878419"/>
            <a:ext cx="5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/>
              </a:rPr>
              <a:t>σ = 1 — Moderate Expressiveness  (F=1 or V=1)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Engaging but pedagogical tone. E.g.: “explain simply”, “popularize for [audience]”, “in a lively way” (V1: light rhetorical questions), clear conventional analogies (F1).</a:t>
            </a:r>
          </a:p>
        </p:txBody>
      </p:sp>
      <p:sp>
        <p:nvSpPr>
          <p:cNvPr id="18" name="Shape S2BG"/>
          <p:cNvSpPr/>
          <p:nvPr/>
        </p:nvSpPr>
        <p:spPr>
          <a:xfrm>
            <a:off x="331004" y="3699628"/>
            <a:ext cx="5700000" cy="610000"/>
          </a:xfrm>
          <a:prstGeom prst="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S2Accent"/>
          <p:cNvSpPr/>
          <p:nvPr/>
        </p:nvSpPr>
        <p:spPr>
          <a:xfrm>
            <a:off x="331004" y="3699628"/>
            <a:ext cx="5700000" cy="70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S2"/>
          <p:cNvSpPr/>
          <p:nvPr/>
        </p:nvSpPr>
        <p:spPr>
          <a:xfrm>
            <a:off x="421004" y="3779628"/>
            <a:ext cx="5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/>
              </a:rPr>
              <a:t>σ = 2 — Strongly Marked Form  (F=2 or V=2)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Strong aesthetic intent. E.g.: “write a literary text” (F2: extended metaphor, novel imagery), “narrate like an action scene” (V2: rhythm, repetition, assumed subjectivity).</a:t>
            </a:r>
          </a:p>
        </p:txBody>
      </p:sp>
      <p:sp>
        <p:nvSpPr>
          <p:cNvPr id="21" name="Shape FlagBG"/>
          <p:cNvSpPr/>
          <p:nvPr/>
        </p:nvSpPr>
        <p:spPr>
          <a:xfrm>
            <a:off x="320040" y="4386073"/>
            <a:ext cx="5721928" cy="487352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Flag"/>
          <p:cNvSpPr/>
          <p:nvPr/>
        </p:nvSpPr>
        <p:spPr>
          <a:xfrm>
            <a:off x="410040" y="4386073"/>
            <a:ext cx="5859885" cy="487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/>
              </a:rPr>
              <a:t>Flag style_mandated:</a:t>
            </a:r>
            <a:r>
              <a:rPr lang="en-US" sz="1400" dirty="0">
                <a:solidFill>
                  <a:srgbClr val="92400E"/>
                </a:solidFill>
                <a:latin typeface="Calibri"/>
              </a:rPr>
              <a:t>  “You MUST...” → </a:t>
            </a:r>
            <a:r>
              <a:rPr lang="en-US" sz="1400" b="1" dirty="0">
                <a:solidFill>
                  <a:srgbClr val="DC2626"/>
                </a:solidFill>
                <a:latin typeface="Calibri"/>
              </a:rPr>
              <a:t>Required</a:t>
            </a:r>
            <a:r>
              <a:rPr lang="en-US" sz="1400" dirty="0">
                <a:solidFill>
                  <a:srgbClr val="92400E"/>
                </a:solidFill>
                <a:latin typeface="Calibri"/>
              </a:rPr>
              <a:t>  ·  “You may...” or unspecified → </a:t>
            </a:r>
            <a:r>
              <a:rPr lang="en-US" sz="1400" b="1" dirty="0">
                <a:solidFill>
                  <a:srgbClr val="16A34A"/>
                </a:solidFill>
                <a:latin typeface="Calibri"/>
              </a:rPr>
              <a:t>Permitted</a:t>
            </a:r>
          </a:p>
        </p:txBody>
      </p:sp>
      <p:sp>
        <p:nvSpPr>
          <p:cNvPr id="23" name="Shape KappaHeader"/>
          <p:cNvSpPr/>
          <p:nvPr/>
        </p:nvSpPr>
        <p:spPr>
          <a:xfrm>
            <a:off x="6120040" y="1488174"/>
            <a:ext cx="5748872" cy="370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KappaHeader"/>
          <p:cNvSpPr/>
          <p:nvPr/>
        </p:nvSpPr>
        <p:spPr>
          <a:xfrm>
            <a:off x="6120040" y="1488174"/>
            <a:ext cx="5748872" cy="37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κ — Invention License</a:t>
            </a:r>
          </a:p>
        </p:txBody>
      </p:sp>
      <p:sp>
        <p:nvSpPr>
          <p:cNvPr id="25" name="Shape K0BG"/>
          <p:cNvSpPr/>
          <p:nvPr/>
        </p:nvSpPr>
        <p:spPr>
          <a:xfrm>
            <a:off x="6120040" y="1908174"/>
            <a:ext cx="5748872" cy="61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K0Accent"/>
          <p:cNvSpPr/>
          <p:nvPr/>
        </p:nvSpPr>
        <p:spPr>
          <a:xfrm>
            <a:off x="6120040" y="1908174"/>
            <a:ext cx="5748872" cy="700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K0"/>
          <p:cNvSpPr/>
          <p:nvPr/>
        </p:nvSpPr>
        <p:spPr>
          <a:xfrm>
            <a:off x="6210040" y="1988174"/>
            <a:ext cx="5568872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/>
              </a:rPr>
              <a:t>κ = 0 — No Invention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Complete prohibition on creating facts. E.g.: “Don’t invent anything”, “Only proven facts”, or pure QA question with no license.</a:t>
            </a:r>
          </a:p>
        </p:txBody>
      </p:sp>
      <p:sp>
        <p:nvSpPr>
          <p:cNvPr id="28" name="Shape K1BG"/>
          <p:cNvSpPr/>
          <p:nvPr/>
        </p:nvSpPr>
        <p:spPr>
          <a:xfrm>
            <a:off x="6120040" y="2798419"/>
            <a:ext cx="5748872" cy="610000"/>
          </a:xfrm>
          <a:prstGeom prst="rect">
            <a:avLst/>
          </a:prstGeom>
          <a:solidFill>
            <a:srgbClr val="FFF7ED"/>
          </a:solidFill>
          <a:ln w="19050">
            <a:solidFill>
              <a:srgbClr val="FED7A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K1Accent"/>
          <p:cNvSpPr/>
          <p:nvPr/>
        </p:nvSpPr>
        <p:spPr>
          <a:xfrm>
            <a:off x="6120040" y="2798419"/>
            <a:ext cx="5748872" cy="70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K1"/>
          <p:cNvSpPr/>
          <p:nvPr/>
        </p:nvSpPr>
        <p:spPr>
          <a:xfrm>
            <a:off x="6210040" y="2878419"/>
            <a:ext cx="5568872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/>
              </a:rPr>
              <a:t>κ = 1 — Flagged Hypotheses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Conditional freedom. May extrapolate provided it is disclosed. E.g.: “Propose theories if you flag them”, “Formulate plausible leads, distinguished from facts”.</a:t>
            </a:r>
          </a:p>
        </p:txBody>
      </p:sp>
      <p:sp>
        <p:nvSpPr>
          <p:cNvPr id="31" name="Shape K2BG"/>
          <p:cNvSpPr/>
          <p:nvPr/>
        </p:nvSpPr>
        <p:spPr>
          <a:xfrm>
            <a:off x="6131004" y="3699628"/>
            <a:ext cx="5748872" cy="610000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K2Accent"/>
          <p:cNvSpPr/>
          <p:nvPr/>
        </p:nvSpPr>
        <p:spPr>
          <a:xfrm>
            <a:off x="6131004" y="3699628"/>
            <a:ext cx="5748872" cy="70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K2"/>
          <p:cNvSpPr/>
          <p:nvPr/>
        </p:nvSpPr>
        <p:spPr>
          <a:xfrm>
            <a:off x="6221004" y="3779628"/>
            <a:ext cx="5568872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/>
              </a:rPr>
              <a:t>κ = 2 — Free Invention, Fictional Frame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/>
              </a:rPr>
              <a:t>Legitimized fiction. E.g.: “Imagine a story / a legend”, “In a fantastical universe”, presenting fictional objects as a complete invention (C9).</a:t>
            </a:r>
          </a:p>
        </p:txBody>
      </p:sp>
      <p:sp>
        <p:nvSpPr>
          <p:cNvPr id="34" name="Shape RealismeBG"/>
          <p:cNvSpPr/>
          <p:nvPr/>
        </p:nvSpPr>
        <p:spPr>
          <a:xfrm>
            <a:off x="6136486" y="4353181"/>
            <a:ext cx="5743390" cy="487352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Realisme"/>
          <p:cNvSpPr/>
          <p:nvPr/>
        </p:nvSpPr>
        <p:spPr>
          <a:xfrm>
            <a:off x="6226486" y="4353181"/>
            <a:ext cx="5897793" cy="487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/>
              </a:rPr>
              <a:t>Realism (1–5):</a:t>
            </a:r>
            <a:r>
              <a:rPr lang="en-US" sz="1400" dirty="0">
                <a:solidFill>
                  <a:srgbClr val="166534"/>
                </a:solidFill>
                <a:latin typeface="Calibri"/>
              </a:rPr>
              <a:t>  1=artificial  ·  3=plausible but benchmark-like  ·  5=very natural / spontaneous</a:t>
            </a:r>
          </a:p>
        </p:txBody>
      </p:sp>
      <p:sp>
        <p:nvSpPr>
          <p:cNvPr id="9999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/>
              </a:rPr>
              <a:t>8</a:t>
            </a:r>
            <a:r>
              <a:rPr lang="en-US" sz="1000">
                <a:solidFill>
                  <a:srgbClr val="94A3B8"/>
                </a:solidFill>
                <a:latin typeface="Calibri"/>
              </a:rPr>
              <a:t> / 9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36" name="Shape Banner">
            <a:extLst>
              <a:ext uri="{FF2B5EF4-FFF2-40B4-BE49-F238E27FC236}">
                <a16:creationId xmlns:a16="http://schemas.microsoft.com/office/drawing/2014/main" id="{315FE9F7-A2E3-9F75-74E9-7E6D09849BD3}"/>
              </a:ext>
            </a:extLst>
          </p:cNvPr>
          <p:cNvSpPr/>
          <p:nvPr/>
        </p:nvSpPr>
        <p:spPr>
          <a:xfrm>
            <a:off x="320040" y="5037769"/>
            <a:ext cx="11548872" cy="12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Banner">
            <a:extLst>
              <a:ext uri="{FF2B5EF4-FFF2-40B4-BE49-F238E27FC236}">
                <a16:creationId xmlns:a16="http://schemas.microsoft.com/office/drawing/2014/main" id="{FA05B731-E7C1-E793-B169-35BB66C6AEB8}"/>
              </a:ext>
            </a:extLst>
          </p:cNvPr>
          <p:cNvSpPr/>
          <p:nvPr/>
        </p:nvSpPr>
        <p:spPr>
          <a:xfrm>
            <a:off x="541294" y="5097769"/>
            <a:ext cx="11183112" cy="1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Key challenge: a general, justifiable annotation guide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BAD0F8"/>
                </a:solidFill>
                <a:latin typeface="Calibri" pitchFamily="34" charset="0"/>
              </a:rPr>
              <a:t>Criteria must be (1) general across topics, (2) recoverable from the prompt text alone, and (3) reliable across annotators.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11548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TR-Bench Design: The 3×3 Prompt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115488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6537960"/>
            <a:ext cx="115488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6565392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Carlesso Mathis  |  CIFRE PhD  </a:t>
            </a:r>
            <a:r>
              <a:rPr lang="en-US" sz="9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Alteca</a:t>
            </a:r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 |  LLM Hallucination Evaluation</a:t>
            </a:r>
            <a:endParaRPr lang="en-US" sz="9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1154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Each prompt occupies one of the 9 cells combining stylistic latitude (σ) and invention license (κ).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26080" y="1143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κ  (</a:t>
            </a:r>
            <a:r>
              <a:rPr lang="en-US" sz="1600" b="1" dirty="0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invention</a:t>
            </a:r>
            <a:r>
              <a:rPr lang="en-US" sz="1400" b="1" dirty="0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 license)  →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1833" y="1626213"/>
            <a:ext cx="1005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σ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(stylistic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latitude)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↓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26080" y="1280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κ0  Factual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86984" y="1280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κ1  Speculative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47888" y="1280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κ2  Fictional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0116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σ0  Neutral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45643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σ1  Pedagogical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901184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σ2  Literary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26080" y="1737360"/>
            <a:ext cx="2606040" cy="1389888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017520" y="184708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summary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/>
              </a:rPr>
              <a:t>“Describe the Eiffel Tower factually and </a:t>
            </a:r>
            <a:r>
              <a:rPr lang="en-US" sz="1000" i="1">
                <a:solidFill>
                  <a:srgbClr val="475569"/>
                </a:solidFill>
                <a:latin typeface="Calibri"/>
              </a:rPr>
              <a:t>precisely.” </a:t>
            </a:r>
            <a:endParaRPr lang="en-US" sz="1000" i="1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1000" i="1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586984" y="1737360"/>
            <a:ext cx="2606040" cy="1389888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678424" y="184708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facts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>
                <a:solidFill>
                  <a:srgbClr val="475569"/>
                </a:solidFill>
                <a:latin typeface="Calibri"/>
              </a:rPr>
              <a:t>“Describe it; add hypotheses if you flag them.”  </a:t>
            </a:r>
            <a:endParaRPr lang="en-US" sz="1000" i="1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1000" i="1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47888" y="1737360"/>
            <a:ext cx="2606040" cy="1389888"/>
          </a:xfrm>
          <a:prstGeom prst="rect">
            <a:avLst/>
          </a:prstGeom>
          <a:solidFill>
            <a:srgbClr val="FFF1F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339328" y="1847088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fiction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/>
              </a:rPr>
              <a:t>“Give me an overview of Swimming in a neutral tone: write a scene set in an imaginary </a:t>
            </a:r>
            <a:r>
              <a:rPr lang="en-US" sz="1000" i="1">
                <a:solidFill>
                  <a:srgbClr val="475569"/>
                </a:solidFill>
                <a:latin typeface="Calibri"/>
              </a:rPr>
              <a:t>world.”</a:t>
            </a:r>
            <a:endParaRPr lang="en-US" sz="1000" i="1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1000" i="1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926080" y="3182112"/>
            <a:ext cx="2606040" cy="1389888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017520" y="32918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Popularization (factual)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1000" i="1" dirty="0">
                <a:solidFill>
                  <a:srgbClr val="475569"/>
                </a:solidFill>
                <a:latin typeface="Calibri"/>
              </a:rPr>
              <a:t>“</a:t>
            </a:r>
            <a:r>
              <a:rPr lang="en-US" sz="1000" dirty="0">
                <a:solidFill>
                  <a:srgbClr val="475569"/>
                </a:solidFill>
                <a:ea typeface="+mn-lt"/>
                <a:cs typeface="+mn-lt"/>
              </a:rPr>
              <a:t>Before discussing this with my students, I’d like to summarize the current understanding of chemical equilibrium. Please present the</a:t>
            </a:r>
            <a:endParaRPr lang="en-US" dirty="0"/>
          </a:p>
          <a:p>
            <a:pPr algn="ctr"/>
            <a:r>
              <a:rPr lang="en-US" sz="1000">
                <a:solidFill>
                  <a:srgbClr val="475569"/>
                </a:solidFill>
                <a:ea typeface="+mn-lt"/>
                <a:cs typeface="+mn-lt"/>
              </a:rPr>
              <a:t>verified information in an accessible way, as if you were speaking to a beginner.</a:t>
            </a:r>
            <a:r>
              <a:rPr lang="en-US" sz="1000" i="1">
                <a:solidFill>
                  <a:srgbClr val="475569"/>
                </a:solidFill>
                <a:ea typeface="+mn-lt"/>
                <a:cs typeface="+mn-lt"/>
              </a:rPr>
              <a:t>”</a:t>
            </a:r>
            <a:endParaRPr lang="en-US" sz="1000" i="1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586984" y="3182112"/>
            <a:ext cx="2606040" cy="1389888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678424" y="32918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hypotheses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/>
              </a:rPr>
              <a:t>“Explain its cultural impact; you may speculate if flagged.”</a:t>
            </a:r>
          </a:p>
          <a:p>
            <a:pPr marL="0" indent="0" algn="ctr">
              <a:buNone/>
            </a:pPr>
            <a:endParaRPr lang="en-US" sz="1000" i="1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247888" y="3182112"/>
            <a:ext cx="2606040" cy="1389888"/>
          </a:xfrm>
          <a:prstGeom prst="rect">
            <a:avLst/>
          </a:prstGeom>
          <a:solidFill>
            <a:srgbClr val="FFFBE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8339328" y="32918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Popularization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fiction</a:t>
            </a:r>
            <a:endParaRPr lang="en-US" sz="1400" dirty="0"/>
          </a:p>
          <a:p>
            <a:pPr algn="ctr"/>
            <a:r>
              <a:rPr lang="en-US" sz="1000" dirty="0">
                <a:solidFill>
                  <a:srgbClr val="475569"/>
                </a:solidFill>
                <a:ea typeface="+mn-lt"/>
                <a:cs typeface="+mn-lt"/>
              </a:rPr>
              <a:t>“Could you, for an article aimed at novice readers, imagine a scene in a fictional village where a traveling salesman offers a curious machine capable of reproducing written </a:t>
            </a:r>
            <a:r>
              <a:rPr lang="en-US" sz="1000">
                <a:solidFill>
                  <a:srgbClr val="475569"/>
                </a:solidFill>
                <a:ea typeface="+mn-lt"/>
                <a:cs typeface="+mn-lt"/>
              </a:rPr>
              <a:t>text?”</a:t>
            </a:r>
            <a:endParaRPr lang="en-US"/>
          </a:p>
          <a:p>
            <a:pPr marL="0" indent="0" algn="ctr">
              <a:buNone/>
            </a:pPr>
            <a:endParaRPr lang="en-US" sz="1000" i="1" dirty="0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926080" y="4626864"/>
            <a:ext cx="2606040" cy="1389888"/>
          </a:xfrm>
          <a:prstGeom prst="rect">
            <a:avLst/>
          </a:prstGeom>
          <a:solidFill>
            <a:srgbClr val="FFF1F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017520" y="47365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portrait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/>
              </a:rPr>
              <a:t>“Write literary about the Eiffel Tower without </a:t>
            </a:r>
            <a:r>
              <a:rPr lang="en-US" sz="1000" i="1">
                <a:solidFill>
                  <a:srgbClr val="475569"/>
                </a:solidFill>
                <a:latin typeface="Calibri"/>
              </a:rPr>
              <a:t>inventing facts.”</a:t>
            </a:r>
            <a:endParaRPr lang="en-US" sz="1000" i="1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1000" i="1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586984" y="4626864"/>
            <a:ext cx="2606040" cy="1389888"/>
          </a:xfrm>
          <a:prstGeom prst="rect">
            <a:avLst/>
          </a:prstGeom>
          <a:solidFill>
            <a:srgbClr val="FFF7ED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678424" y="47365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Stylized fiction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/>
              </a:rPr>
              <a:t>“Poetic account of the tower’s “memories”; invented anecdotes must be flagged.”</a:t>
            </a:r>
          </a:p>
          <a:p>
            <a:pPr marL="0" indent="0" algn="ctr">
              <a:buNone/>
            </a:pPr>
            <a:endParaRPr lang="en-US" sz="1000" i="1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247888" y="4626864"/>
            <a:ext cx="2606040" cy="1389888"/>
          </a:xfrm>
          <a:prstGeom prst="rect">
            <a:avLst/>
          </a:prstGeom>
          <a:solidFill>
            <a:srgbClr val="F5F3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8339328" y="47365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fiction</a:t>
            </a:r>
            <a:endParaRPr lang="en-US" sz="1400" dirty="0"/>
          </a:p>
          <a:p>
            <a:pPr algn="ctr"/>
            <a:r>
              <a:rPr lang="en-US" sz="1000" dirty="0">
                <a:solidFill>
                  <a:srgbClr val="475569"/>
                </a:solidFill>
                <a:ea typeface="+mn-lt"/>
                <a:cs typeface="+mn-lt"/>
              </a:rPr>
              <a:t>“I’d like a evocative caption in a literary style</a:t>
            </a:r>
            <a:endParaRPr lang="en-US" dirty="0"/>
          </a:p>
          <a:p>
            <a:pPr algn="ctr"/>
            <a:r>
              <a:rPr lang="en-US" sz="1000">
                <a:solidFill>
                  <a:srgbClr val="475569"/>
                </a:solidFill>
                <a:ea typeface="+mn-lt"/>
                <a:cs typeface="+mn-lt"/>
              </a:rPr>
              <a:t>for a fictional exhibition where cans of</a:t>
            </a:r>
            <a:endParaRPr lang="en-US"/>
          </a:p>
          <a:p>
            <a:pPr algn="ctr"/>
            <a:r>
              <a:rPr lang="en-US" sz="1000">
                <a:solidFill>
                  <a:srgbClr val="475569"/>
                </a:solidFill>
                <a:ea typeface="+mn-lt"/>
                <a:cs typeface="+mn-lt"/>
              </a:rPr>
              <a:t>Campbell’s soup are presented as</a:t>
            </a:r>
            <a:endParaRPr lang="en-US"/>
          </a:p>
          <a:p>
            <a:pPr algn="ctr"/>
            <a:r>
              <a:rPr lang="en-US" sz="1000">
                <a:solidFill>
                  <a:srgbClr val="475569"/>
                </a:solidFill>
                <a:ea typeface="+mn-lt"/>
                <a:cs typeface="+mn-lt"/>
              </a:rPr>
              <a:t>sacred relics in a museum of the future. 3–</a:t>
            </a:r>
            <a:endParaRPr lang="en-US"/>
          </a:p>
          <a:p>
            <a:pPr algn="ctr"/>
            <a:r>
              <a:rPr lang="en-US" sz="1000">
                <a:solidFill>
                  <a:srgbClr val="475569"/>
                </a:solidFill>
                <a:ea typeface="+mn-lt"/>
                <a:cs typeface="+mn-lt"/>
              </a:rPr>
              <a:t>5 sentences, vivid imagery, and a fully</a:t>
            </a:r>
            <a:endParaRPr lang="en-US"/>
          </a:p>
          <a:p>
            <a:pPr algn="ctr"/>
            <a:r>
              <a:rPr lang="en-US" sz="1000">
                <a:solidFill>
                  <a:srgbClr val="475569"/>
                </a:solidFill>
                <a:ea typeface="+mn-lt"/>
                <a:cs typeface="+mn-lt"/>
              </a:rPr>
              <a:t>imagined setting.” </a:t>
            </a:r>
            <a:endParaRPr lang="en-US">
              <a:ea typeface="+mn-lt"/>
              <a:cs typeface="+mn-lt"/>
            </a:endParaRPr>
          </a:p>
          <a:p>
            <a:pPr marL="0" indent="0" algn="ctr">
              <a:buNone/>
            </a:pPr>
            <a:endParaRPr lang="en-US" sz="1000" i="1" dirty="0">
              <a:solidFill>
                <a:srgbClr val="475569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1000" i="1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0040" y="6107561"/>
            <a:ext cx="347472" cy="237744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816391" y="6066991"/>
            <a:ext cx="11045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border = key test cells: literary style + factual (σ2/κ0) and neutral style + fictional (σ0/κ2). These validate that σ and κ are independent axes.</a:t>
            </a:r>
            <a:endParaRPr lang="en-US" sz="1200" dirty="0"/>
          </a:p>
        </p:txBody>
      </p:sp>
      <p:sp>
        <p:nvSpPr>
          <p:cNvPr id="9999" name="Text Pagination"/>
          <p:cNvSpPr/>
          <p:nvPr/>
        </p:nvSpPr>
        <p:spPr>
          <a:xfrm>
            <a:off x="10800000" y="6565392"/>
            <a:ext cx="106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Calibri"/>
              </a:rPr>
              <a:t>9 </a:t>
            </a:r>
            <a:r>
              <a:rPr lang="en-US" sz="1000" dirty="0">
                <a:solidFill>
                  <a:srgbClr val="94A3B8"/>
                </a:solidFill>
                <a:latin typeface="Calibri"/>
              </a:rPr>
              <a:t>/ </a:t>
            </a:r>
            <a:r>
              <a:rPr lang="en-US" sz="1000">
                <a:solidFill>
                  <a:srgbClr val="94A3B8"/>
                </a:solidFill>
                <a:latin typeface="Calibri"/>
              </a:rPr>
              <a:t>9</a:t>
            </a:r>
            <a:endParaRPr lang="en-US" sz="100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E51AD54A-FC2A-2772-4A39-A2735E7B89F6}"/>
              </a:ext>
            </a:extLst>
          </p:cNvPr>
          <p:cNvSpPr/>
          <p:nvPr/>
        </p:nvSpPr>
        <p:spPr>
          <a:xfrm>
            <a:off x="5586511" y="4626864"/>
            <a:ext cx="2606040" cy="1389888"/>
          </a:xfrm>
          <a:prstGeom prst="rect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228</cp:revision>
  <dcterms:created xsi:type="dcterms:W3CDTF">2026-06-09T09:50:50Z</dcterms:created>
  <dcterms:modified xsi:type="dcterms:W3CDTF">2026-09-18T07:49:02Z</dcterms:modified>
</cp:coreProperties>
</file>